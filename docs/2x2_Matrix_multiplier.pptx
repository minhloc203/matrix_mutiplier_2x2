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603"/>
    <p:restoredTop sz="94610"/>
  </p:normalViewPr>
  <p:slideViewPr>
    <p:cSldViewPr snapToGrid="0" snapToObjects="1">
      <p:cViewPr varScale="1">
        <p:scale>
          <a:sx n="47" d="100"/>
          <a:sy n="47" d="100"/>
        </p:scale>
        <p:origin x="208" y="2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Mở đầu: giới thiệu đề tài, nhóm, mục tiêu chính: xây dựng mạch nhân ma trận 2x2 trên FPGA theo hướng systolic array và kiểm chứng bằng mô phỏng.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Giới thiệu nhanh cấu trúc bài. Nhấn mạnh các slide sau có chừa khung để nhóm chèn waveform ModelSim, code VS Code và kết quả chạy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Giải thích quy tắc nhân ma trận: hàng i của A nhân cột j của B. Với 2x2 thì mỗi kết quả là tổng của hai tích.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Nhấn mạnh sự khác nhau giữa lập trình tuần tự và thiết kế phần cứng song song. Systolic array phù hợp cho phép nhân ma trận vì dữ liệu được truyền theo nhịp.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Giải thích vì sao 17 bit là an toàn: một phần tử C là tổng của hai tích 16 bit. Với signed, phải chú ý signed casting và sign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Nói về các module chính. Nếu nhóm đã có tên module cụ thể, có thể thay trực tiếp trong slide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Giải thích systolic: dữ liệu “đập nhịp” qua các PE. Mỗi PE tự tích lũy một phần tử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Slide này giúp người nghe hiểu trade-off. Nếu nhóm đã triển khai loại tuần tự, có thể đổi trọng tâm sang “tuần tự chia sẻ tài nguyên”.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7589520" y="2103120"/>
            <a:ext cx="960120" cy="411480"/>
          </a:xfrm>
          <a:prstGeom prst="rect">
            <a:avLst/>
          </a:prstGeom>
          <a:noFill/>
        </p:spPr>
        <p:txBody>
          <a:bodyPr wrap="square" lIns="0" tIns="0" rIns="0" bIns="0" rtlCol="0" anchor="ctr"/>
          <a:lstStyle/>
          <a:p>
            <a:pPr marL="0" indent="0" algn="ctr">
              <a:buNone/>
            </a:pPr>
            <a:r>
              <a:rPr lang="en-US" sz="2600" b="1" dirty="0">
                <a:solidFill>
                  <a:srgbClr val="22D3EE"/>
                </a:solidFill>
                <a:latin typeface="Consolas" panose="020B0609020204030204" pitchFamily="34" charset="0"/>
                <a:ea typeface="Consolas" panose="020B0609020204030204" pitchFamily="34" charset="-122"/>
                <a:cs typeface="Consolas" panose="020B0609020204030204" pitchFamily="34" charset="-120"/>
              </a:rPr>
              <a:t>[ A ]</a:t>
            </a:r>
            <a:endParaRPr lang="en-US" sz="2600" dirty="0"/>
          </a:p>
        </p:txBody>
      </p:sp>
      <p:sp>
        <p:nvSpPr>
          <p:cNvPr id="4" name="Text 2"/>
          <p:cNvSpPr/>
          <p:nvPr/>
        </p:nvSpPr>
        <p:spPr>
          <a:xfrm>
            <a:off x="8641080" y="2103120"/>
            <a:ext cx="320040" cy="411480"/>
          </a:xfrm>
          <a:prstGeom prst="rect">
            <a:avLst/>
          </a:prstGeom>
          <a:noFill/>
        </p:spPr>
        <p:txBody>
          <a:bodyPr wrap="square" lIns="0" tIns="0" rIns="0" bIns="0" rtlCol="0" anchor="ctr"/>
          <a:lstStyle/>
          <a:p>
            <a:pPr marL="0" indent="0" algn="ctr">
              <a:buNone/>
            </a:pPr>
            <a:r>
              <a:rPr lang="en-US" sz="2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2600" dirty="0"/>
          </a:p>
        </p:txBody>
      </p:sp>
      <p:sp>
        <p:nvSpPr>
          <p:cNvPr id="5" name="Text 3"/>
          <p:cNvSpPr/>
          <p:nvPr/>
        </p:nvSpPr>
        <p:spPr>
          <a:xfrm>
            <a:off x="9098280" y="2103120"/>
            <a:ext cx="960120" cy="411480"/>
          </a:xfrm>
          <a:prstGeom prst="rect">
            <a:avLst/>
          </a:prstGeom>
          <a:noFill/>
        </p:spPr>
        <p:txBody>
          <a:bodyPr wrap="square" lIns="0" tIns="0" rIns="0" bIns="0" rtlCol="0" anchor="ctr"/>
          <a:lstStyle/>
          <a:p>
            <a:pPr marL="0" indent="0" algn="ctr">
              <a:buNone/>
            </a:pPr>
            <a:r>
              <a:rPr lang="en-US" sz="2600" b="1" dirty="0">
                <a:solidFill>
                  <a:srgbClr val="FBBF24"/>
                </a:solidFill>
                <a:latin typeface="Consolas" panose="020B0609020204030204" pitchFamily="34" charset="0"/>
                <a:ea typeface="Consolas" panose="020B0609020204030204" pitchFamily="34" charset="-122"/>
                <a:cs typeface="Consolas" panose="020B0609020204030204" pitchFamily="34" charset="-120"/>
              </a:rPr>
              <a:t>[ B ]</a:t>
            </a:r>
            <a:endParaRPr lang="en-US" sz="2600" dirty="0"/>
          </a:p>
        </p:txBody>
      </p:sp>
      <p:sp>
        <p:nvSpPr>
          <p:cNvPr id="6" name="Text 4"/>
          <p:cNvSpPr/>
          <p:nvPr/>
        </p:nvSpPr>
        <p:spPr>
          <a:xfrm>
            <a:off x="10149840" y="2103120"/>
            <a:ext cx="320040" cy="411480"/>
          </a:xfrm>
          <a:prstGeom prst="rect">
            <a:avLst/>
          </a:prstGeom>
          <a:noFill/>
        </p:spPr>
        <p:txBody>
          <a:bodyPr wrap="square" lIns="0" tIns="0" rIns="0" bIns="0" rtlCol="0" anchor="ctr"/>
          <a:lstStyle/>
          <a:p>
            <a:pPr marL="0" indent="0" algn="ctr">
              <a:buNone/>
            </a:pPr>
            <a:r>
              <a:rPr lang="en-US" sz="26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a:t>
            </a:r>
            <a:endParaRPr lang="en-US" sz="2600" dirty="0"/>
          </a:p>
        </p:txBody>
      </p:sp>
      <p:sp>
        <p:nvSpPr>
          <p:cNvPr id="7" name="Text 5"/>
          <p:cNvSpPr/>
          <p:nvPr/>
        </p:nvSpPr>
        <p:spPr>
          <a:xfrm>
            <a:off x="10561320" y="2103120"/>
            <a:ext cx="960120" cy="411480"/>
          </a:xfrm>
          <a:prstGeom prst="rect">
            <a:avLst/>
          </a:prstGeom>
          <a:noFill/>
        </p:spPr>
        <p:txBody>
          <a:bodyPr wrap="square" lIns="0" tIns="0" rIns="0" bIns="0" rtlCol="0" anchor="ctr"/>
          <a:lstStyle/>
          <a:p>
            <a:pPr marL="0" indent="0" algn="ctr">
              <a:buNone/>
            </a:pPr>
            <a:r>
              <a:rPr lang="en-US" sz="2600" b="1" dirty="0">
                <a:solidFill>
                  <a:srgbClr val="34D399"/>
                </a:solidFill>
                <a:latin typeface="Consolas" panose="020B0609020204030204" pitchFamily="34" charset="0"/>
                <a:ea typeface="Consolas" panose="020B0609020204030204" pitchFamily="34" charset="-122"/>
                <a:cs typeface="Consolas" panose="020B0609020204030204" pitchFamily="34" charset="-120"/>
              </a:rPr>
              <a:t>[ C ]</a:t>
            </a:r>
            <a:endParaRPr lang="en-US" sz="2600" dirty="0"/>
          </a:p>
        </p:txBody>
      </p:sp>
      <p:sp>
        <p:nvSpPr>
          <p:cNvPr id="8" name="Text 6"/>
          <p:cNvSpPr/>
          <p:nvPr/>
        </p:nvSpPr>
        <p:spPr>
          <a:xfrm>
            <a:off x="8458200" y="3154680"/>
            <a:ext cx="777240" cy="420624"/>
          </a:xfrm>
          <a:prstGeom prst="rect">
            <a:avLst/>
          </a:prstGeom>
          <a:solidFill>
            <a:srgbClr val="162032"/>
          </a:solidFill>
          <a:ln>
            <a:solidFill>
              <a:srgbClr val="22D3EE">
                <a:alpha val="75000"/>
              </a:srgbClr>
            </a:solidFill>
          </a:ln>
        </p:spPr>
        <p:txBody>
          <a:bodyPr wrap="square" lIns="254" tIns="254" rIns="254" bIns="254" rtlCol="0" anchor="ctr"/>
          <a:lstStyle/>
          <a:p>
            <a:pPr marL="0" indent="0" algn="ctr">
              <a:buNone/>
            </a:pPr>
            <a:r>
              <a:rPr lang="en-US" sz="1100" b="1" dirty="0">
                <a:solidFill>
                  <a:srgbClr val="FFFFFF"/>
                </a:solidFill>
              </a:rPr>
              <a:t>MAC</a:t>
            </a:r>
            <a:endParaRPr lang="en-US" sz="1100" dirty="0"/>
          </a:p>
        </p:txBody>
      </p:sp>
      <p:sp>
        <p:nvSpPr>
          <p:cNvPr id="9" name="Text 7"/>
          <p:cNvSpPr/>
          <p:nvPr/>
        </p:nvSpPr>
        <p:spPr>
          <a:xfrm>
            <a:off x="9738360" y="3154680"/>
            <a:ext cx="777240" cy="420624"/>
          </a:xfrm>
          <a:prstGeom prst="rect">
            <a:avLst/>
          </a:prstGeom>
          <a:solidFill>
            <a:srgbClr val="162032"/>
          </a:solidFill>
          <a:ln>
            <a:solidFill>
              <a:srgbClr val="22D3EE">
                <a:alpha val="75000"/>
              </a:srgbClr>
            </a:solidFill>
          </a:ln>
        </p:spPr>
        <p:txBody>
          <a:bodyPr wrap="square" lIns="254" tIns="254" rIns="254" bIns="254" rtlCol="0" anchor="ctr"/>
          <a:lstStyle/>
          <a:p>
            <a:pPr marL="0" indent="0" algn="ctr">
              <a:buNone/>
            </a:pPr>
            <a:r>
              <a:rPr lang="en-US" sz="1100" b="1" dirty="0">
                <a:solidFill>
                  <a:srgbClr val="FFFFFF"/>
                </a:solidFill>
              </a:rPr>
              <a:t>MAC</a:t>
            </a:r>
            <a:endParaRPr lang="en-US" sz="1100" dirty="0"/>
          </a:p>
        </p:txBody>
      </p:sp>
      <p:sp>
        <p:nvSpPr>
          <p:cNvPr id="10" name="Text 8"/>
          <p:cNvSpPr/>
          <p:nvPr/>
        </p:nvSpPr>
        <p:spPr>
          <a:xfrm>
            <a:off x="8458200" y="3813048"/>
            <a:ext cx="777240" cy="420624"/>
          </a:xfrm>
          <a:prstGeom prst="rect">
            <a:avLst/>
          </a:prstGeom>
          <a:solidFill>
            <a:srgbClr val="162032"/>
          </a:solidFill>
          <a:ln>
            <a:solidFill>
              <a:srgbClr val="22D3EE">
                <a:alpha val="75000"/>
              </a:srgbClr>
            </a:solidFill>
          </a:ln>
        </p:spPr>
        <p:txBody>
          <a:bodyPr wrap="square" lIns="254" tIns="254" rIns="254" bIns="254" rtlCol="0" anchor="ctr"/>
          <a:lstStyle/>
          <a:p>
            <a:pPr marL="0" indent="0" algn="ctr">
              <a:buNone/>
            </a:pPr>
            <a:r>
              <a:rPr lang="en-US" sz="1100" b="1" dirty="0">
                <a:solidFill>
                  <a:srgbClr val="FFFFFF"/>
                </a:solidFill>
              </a:rPr>
              <a:t>MAC</a:t>
            </a:r>
            <a:endParaRPr lang="en-US" sz="1100" dirty="0"/>
          </a:p>
        </p:txBody>
      </p:sp>
      <p:sp>
        <p:nvSpPr>
          <p:cNvPr id="11" name="Text 9"/>
          <p:cNvSpPr/>
          <p:nvPr/>
        </p:nvSpPr>
        <p:spPr>
          <a:xfrm>
            <a:off x="9734843" y="3794760"/>
            <a:ext cx="777240" cy="420624"/>
          </a:xfrm>
          <a:prstGeom prst="rect">
            <a:avLst/>
          </a:prstGeom>
          <a:solidFill>
            <a:srgbClr val="162032"/>
          </a:solidFill>
          <a:ln>
            <a:solidFill>
              <a:srgbClr val="22D3EE">
                <a:alpha val="75000"/>
              </a:srgbClr>
            </a:solidFill>
          </a:ln>
        </p:spPr>
        <p:txBody>
          <a:bodyPr wrap="square" lIns="254" tIns="254" rIns="254" bIns="254" rtlCol="0" anchor="ctr"/>
          <a:lstStyle/>
          <a:p>
            <a:pPr marL="0" indent="0" algn="ctr">
              <a:buNone/>
            </a:pPr>
            <a:r>
              <a:rPr lang="en-US" sz="1100" b="1" dirty="0">
                <a:solidFill>
                  <a:srgbClr val="FFFFFF"/>
                </a:solidFill>
              </a:rPr>
              <a:t>MAC</a:t>
            </a:r>
            <a:endParaRPr lang="en-US" sz="1100" dirty="0"/>
          </a:p>
        </p:txBody>
      </p:sp>
      <p:sp>
        <p:nvSpPr>
          <p:cNvPr id="12" name="Shape 10"/>
          <p:cNvSpPr/>
          <p:nvPr/>
        </p:nvSpPr>
        <p:spPr>
          <a:xfrm>
            <a:off x="8069580" y="3364992"/>
            <a:ext cx="411480" cy="0"/>
          </a:xfrm>
          <a:prstGeom prst="line">
            <a:avLst/>
          </a:prstGeom>
          <a:noFill/>
          <a:ln w="25400">
            <a:solidFill>
              <a:srgbClr val="22D3EE"/>
            </a:solidFill>
            <a:prstDash val="solid"/>
            <a:headEnd type="none"/>
            <a:tailEnd type="triangle"/>
          </a:ln>
        </p:spPr>
        <p:txBody>
          <a:bodyPr/>
          <a:lstStyle/>
          <a:p>
            <a:endParaRPr lang="en-US"/>
          </a:p>
        </p:txBody>
      </p:sp>
      <p:sp>
        <p:nvSpPr>
          <p:cNvPr id="13" name="Shape 11"/>
          <p:cNvSpPr/>
          <p:nvPr/>
        </p:nvSpPr>
        <p:spPr>
          <a:xfrm>
            <a:off x="9274126" y="3380935"/>
            <a:ext cx="411480" cy="0"/>
          </a:xfrm>
          <a:prstGeom prst="line">
            <a:avLst/>
          </a:prstGeom>
          <a:noFill/>
          <a:ln w="25400">
            <a:solidFill>
              <a:srgbClr val="22D3EE"/>
            </a:solidFill>
            <a:prstDash val="solid"/>
            <a:tailEnd type="triangle"/>
          </a:ln>
        </p:spPr>
        <p:txBody>
          <a:bodyPr/>
          <a:lstStyle/>
          <a:p>
            <a:endParaRPr lang="en-US"/>
          </a:p>
        </p:txBody>
      </p:sp>
      <p:sp>
        <p:nvSpPr>
          <p:cNvPr id="14" name="Shape 12"/>
          <p:cNvSpPr/>
          <p:nvPr/>
        </p:nvSpPr>
        <p:spPr>
          <a:xfrm>
            <a:off x="9144000" y="2864182"/>
            <a:ext cx="0" cy="237744"/>
          </a:xfrm>
          <a:prstGeom prst="line">
            <a:avLst/>
          </a:prstGeom>
          <a:noFill/>
          <a:ln w="25400">
            <a:solidFill>
              <a:srgbClr val="FBBF24"/>
            </a:solidFill>
            <a:prstDash val="solid"/>
            <a:tailEnd type="triangle"/>
          </a:ln>
        </p:spPr>
        <p:txBody>
          <a:bodyPr/>
          <a:lstStyle/>
          <a:p>
            <a:endParaRPr lang="en-US"/>
          </a:p>
        </p:txBody>
      </p:sp>
      <p:sp>
        <p:nvSpPr>
          <p:cNvPr id="15" name="Shape 13"/>
          <p:cNvSpPr/>
          <p:nvPr/>
        </p:nvSpPr>
        <p:spPr>
          <a:xfrm>
            <a:off x="10418299" y="2880360"/>
            <a:ext cx="0" cy="237744"/>
          </a:xfrm>
          <a:prstGeom prst="line">
            <a:avLst/>
          </a:prstGeom>
          <a:noFill/>
          <a:ln w="25400">
            <a:solidFill>
              <a:srgbClr val="FBBF24"/>
            </a:solidFill>
            <a:prstDash val="solid"/>
            <a:tailEnd type="triangle"/>
          </a:ln>
        </p:spPr>
        <p:txBody>
          <a:bodyPr/>
          <a:lstStyle/>
          <a:p>
            <a:endParaRPr lang="en-US"/>
          </a:p>
        </p:txBody>
      </p:sp>
      <p:sp>
        <p:nvSpPr>
          <p:cNvPr id="16" name="Text 14"/>
          <p:cNvSpPr/>
          <p:nvPr/>
        </p:nvSpPr>
        <p:spPr>
          <a:xfrm>
            <a:off x="640080" y="1170432"/>
            <a:ext cx="6858000" cy="1508760"/>
          </a:xfrm>
          <a:prstGeom prst="rect">
            <a:avLst/>
          </a:prstGeom>
          <a:noFill/>
        </p:spPr>
        <p:txBody>
          <a:bodyPr wrap="square" lIns="0" tIns="0" rIns="0" bIns="0" rtlCol="0" anchor="ctr">
            <a:normAutofit fontScale="90000"/>
          </a:bodyPr>
          <a:lstStyle/>
          <a:p>
            <a:pPr marL="0" indent="0">
              <a:buNone/>
            </a:pPr>
            <a:r>
              <a:rPr lang="en-US" sz="4000" b="1" dirty="0">
                <a:solidFill>
                  <a:srgbClr val="FFFFFF"/>
                </a:solidFill>
                <a:latin typeface="Aptos Display" pitchFamily="34" charset="0"/>
              </a:rPr>
              <a:t>2x2 Matrix Multiplication</a:t>
            </a:r>
            <a:endParaRPr lang="en-US" sz="4000" dirty="0"/>
          </a:p>
          <a:p>
            <a:pPr marL="0" indent="0">
              <a:buNone/>
            </a:pPr>
            <a:r>
              <a:rPr lang="en-US" sz="4000" b="1" dirty="0">
                <a:solidFill>
                  <a:srgbClr val="FFFFFF"/>
                </a:solidFill>
                <a:latin typeface="Aptos Display" pitchFamily="34" charset="0"/>
                <a:ea typeface="Aptos Display" pitchFamily="34" charset="-122"/>
                <a:cs typeface="Aptos Display" pitchFamily="34" charset="-120"/>
              </a:rPr>
              <a:t>Using a Systolic Array on FPGA</a:t>
            </a:r>
            <a:endParaRPr lang="en-US" sz="4000" dirty="0"/>
          </a:p>
        </p:txBody>
      </p:sp>
      <p:sp>
        <p:nvSpPr>
          <p:cNvPr id="17" name="Text 15"/>
          <p:cNvSpPr/>
          <p:nvPr/>
        </p:nvSpPr>
        <p:spPr>
          <a:xfrm>
            <a:off x="685800" y="2880360"/>
            <a:ext cx="6537960" cy="384048"/>
          </a:xfrm>
          <a:prstGeom prst="rect">
            <a:avLst/>
          </a:prstGeom>
          <a:noFill/>
        </p:spPr>
        <p:txBody>
          <a:bodyPr wrap="square" lIns="0" tIns="0" rIns="0" bIns="0" rtlCol="0" anchor="ctr"/>
          <a:lstStyle/>
          <a:p>
            <a:r>
              <a:rPr lang="en-US" sz="1600" dirty="0">
                <a:solidFill>
                  <a:schemeClr val="bg1"/>
                </a:solidFill>
              </a:rPr>
              <a:t>Verilog Implementation • Python &amp; Testbench Verification • ModelSim Simulation</a:t>
            </a:r>
            <a:endParaRPr lang="en-US" sz="1600" dirty="0">
              <a:solidFill>
                <a:schemeClr val="bg1"/>
              </a:solidFill>
            </a:endParaRPr>
          </a:p>
        </p:txBody>
      </p:sp>
      <p:sp>
        <p:nvSpPr>
          <p:cNvPr id="18" name="Text 16"/>
          <p:cNvSpPr/>
          <p:nvPr/>
        </p:nvSpPr>
        <p:spPr>
          <a:xfrm>
            <a:off x="685800" y="4617720"/>
            <a:ext cx="4892040" cy="777240"/>
          </a:xfrm>
          <a:prstGeom prst="rect">
            <a:avLst/>
          </a:prstGeom>
          <a:noFill/>
        </p:spPr>
        <p:txBody>
          <a:bodyPr wrap="square" lIns="635" tIns="635" rIns="635" bIns="635" rtlCol="0" anchor="ctr"/>
          <a:lstStyle/>
          <a:p>
            <a:pPr marL="0" indent="0">
              <a:buNone/>
            </a:pPr>
            <a:r>
              <a:rPr lang="vi-VN" sz="1400" dirty="0">
                <a:solidFill>
                  <a:srgbClr val="9CA3AF"/>
                </a:solidFill>
              </a:rPr>
              <a:t>Group</a:t>
            </a:r>
            <a:r>
              <a:rPr lang="en-US" sz="1400" dirty="0">
                <a:solidFill>
                  <a:srgbClr val="9CA3AF"/>
                </a:solidFill>
              </a:rPr>
              <a:t>: 6</a:t>
            </a:r>
            <a:endParaRPr lang="en-US" sz="1400" dirty="0"/>
          </a:p>
          <a:p>
            <a:pPr marL="0" indent="0">
              <a:buNone/>
            </a:pPr>
            <a:r>
              <a:rPr lang="vi-VN" sz="1400" dirty="0">
                <a:solidFill>
                  <a:srgbClr val="9CA3AF"/>
                </a:solidFill>
              </a:rPr>
              <a:t>Class</a:t>
            </a:r>
            <a:r>
              <a:rPr lang="en-US" sz="1400" dirty="0">
                <a:solidFill>
                  <a:srgbClr val="9CA3AF"/>
                </a:solidFill>
              </a:rPr>
              <a:t>: IC2004</a:t>
            </a:r>
            <a:endParaRPr lang="en-US" sz="1400" dirty="0"/>
          </a:p>
          <a:p>
            <a:pPr marL="0" indent="0">
              <a:buNone/>
            </a:pPr>
            <a:r>
              <a:rPr lang="en-US" sz="1400" dirty="0">
                <a:solidFill>
                  <a:srgbClr val="9CA3AF"/>
                </a:solidFill>
              </a:rPr>
              <a:t>GVHD: Ts. Phạm </a:t>
            </a:r>
            <a:r>
              <a:rPr lang="vi-VN" sz="1400" dirty="0">
                <a:solidFill>
                  <a:srgbClr val="9CA3AF"/>
                </a:solidFill>
              </a:rPr>
              <a:t>Thế</a:t>
            </a:r>
            <a:r>
              <a:rPr lang="en-US" sz="1400" dirty="0">
                <a:solidFill>
                  <a:srgbClr val="9CA3AF"/>
                </a:solidFill>
              </a:rPr>
              <a:t> Vinh</a:t>
            </a:r>
            <a:endParaRPr lang="en-US" sz="1400" dirty="0"/>
          </a:p>
        </p:txBody>
      </p:sp>
      <p:sp>
        <p:nvSpPr>
          <p:cNvPr id="19" name="Text 17"/>
          <p:cNvSpPr/>
          <p:nvPr/>
        </p:nvSpPr>
        <p:spPr>
          <a:xfrm>
            <a:off x="685800" y="5989320"/>
            <a:ext cx="1005840" cy="228600"/>
          </a:xfrm>
          <a:prstGeom prst="rect">
            <a:avLst/>
          </a:prstGeom>
          <a:noFill/>
        </p:spPr>
        <p:txBody>
          <a:bodyPr wrap="square" lIns="0" tIns="0" rIns="0" bIns="0" rtlCol="0" anchor="ctr"/>
          <a:lstStyle/>
          <a:p>
            <a:pPr marL="0" indent="0">
              <a:buNone/>
            </a:pPr>
            <a:r>
              <a:rPr lang="en-US" sz="1100" dirty="0">
                <a:solidFill>
                  <a:srgbClr val="94A3B8"/>
                </a:solidFill>
              </a:rPr>
              <a:t>2026</a:t>
            </a:r>
            <a:endParaRPr lang="en-US" sz="1100" dirty="0"/>
          </a:p>
        </p:txBody>
      </p:sp>
      <p:sp>
        <p:nvSpPr>
          <p:cNvPr id="20" name="Text 18"/>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21" name="Text 19"/>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01</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chemeClr val="bg1"/>
                </a:solidFill>
              </a:rPr>
              <a:t>Presentation Outline</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2×2 Matrix Multiplier: From Mathematical Formulation to FPGA Architecture and Simulation</a:t>
            </a:r>
            <a:endParaRPr lang="en-US" sz="1200" dirty="0">
              <a:solidFill>
                <a:schemeClr val="bg1"/>
              </a:solidFill>
            </a:endParaRPr>
          </a:p>
        </p:txBody>
      </p:sp>
      <p:sp>
        <p:nvSpPr>
          <p:cNvPr id="5" name="Text 3"/>
          <p:cNvSpPr/>
          <p:nvPr/>
        </p:nvSpPr>
        <p:spPr>
          <a:xfrm>
            <a:off x="777240" y="148132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01</a:t>
            </a:r>
            <a:endParaRPr lang="en-US" sz="1800" dirty="0"/>
          </a:p>
        </p:txBody>
      </p:sp>
      <p:sp>
        <p:nvSpPr>
          <p:cNvPr id="6" name="Text 4"/>
          <p:cNvSpPr/>
          <p:nvPr/>
        </p:nvSpPr>
        <p:spPr>
          <a:xfrm>
            <a:off x="1600200" y="1508760"/>
            <a:ext cx="4206240" cy="384048"/>
          </a:xfrm>
          <a:prstGeom prst="rect">
            <a:avLst/>
          </a:prstGeom>
          <a:noFill/>
        </p:spPr>
        <p:txBody>
          <a:bodyPr wrap="square" lIns="0" tIns="0" rIns="0" bIns="0" rtlCol="0" anchor="ctr"/>
          <a:lstStyle/>
          <a:p>
            <a:r>
              <a:rPr lang="en-US" sz="2000" b="1" dirty="0">
                <a:solidFill>
                  <a:schemeClr val="bg1"/>
                </a:solidFill>
              </a:rPr>
              <a:t>Matrix Multiplication Problem </a:t>
            </a:r>
            <a:r>
              <a:rPr lang="vi-VN" sz="2000" b="1" dirty="0">
                <a:solidFill>
                  <a:schemeClr val="bg1"/>
                </a:solidFill>
              </a:rPr>
              <a:t>&amp;</a:t>
            </a:r>
            <a:r>
              <a:rPr lang="en-US" sz="2000" b="1" dirty="0">
                <a:solidFill>
                  <a:schemeClr val="bg1"/>
                </a:solidFill>
              </a:rPr>
              <a:t> Formulation</a:t>
            </a:r>
            <a:endParaRPr lang="en-US" sz="2000" b="1" dirty="0">
              <a:solidFill>
                <a:schemeClr val="bg1"/>
              </a:solidFill>
            </a:endParaRPr>
          </a:p>
        </p:txBody>
      </p:sp>
      <p:sp>
        <p:nvSpPr>
          <p:cNvPr id="7" name="Text 5"/>
          <p:cNvSpPr/>
          <p:nvPr/>
        </p:nvSpPr>
        <p:spPr>
          <a:xfrm>
            <a:off x="6126480" y="148132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02</a:t>
            </a:r>
            <a:endParaRPr lang="en-US" sz="1800" dirty="0"/>
          </a:p>
        </p:txBody>
      </p:sp>
      <p:sp>
        <p:nvSpPr>
          <p:cNvPr id="8" name="Text 6"/>
          <p:cNvSpPr/>
          <p:nvPr/>
        </p:nvSpPr>
        <p:spPr>
          <a:xfrm>
            <a:off x="6949440" y="1508760"/>
            <a:ext cx="4206240" cy="384048"/>
          </a:xfrm>
          <a:prstGeom prst="rect">
            <a:avLst/>
          </a:prstGeom>
          <a:noFill/>
        </p:spPr>
        <p:txBody>
          <a:bodyPr wrap="square" lIns="0" tIns="0" rIns="0" bIns="0" rtlCol="0" anchor="ctr"/>
          <a:lstStyle/>
          <a:p>
            <a:r>
              <a:rPr lang="en-US" sz="2000" b="1" dirty="0">
                <a:solidFill>
                  <a:schemeClr val="bg1"/>
                </a:solidFill>
              </a:rPr>
              <a:t>Number Representation </a:t>
            </a:r>
            <a:r>
              <a:rPr lang="vi-VN" sz="2000" b="1" dirty="0">
                <a:solidFill>
                  <a:schemeClr val="bg1"/>
                </a:solidFill>
              </a:rPr>
              <a:t>&amp;</a:t>
            </a:r>
            <a:r>
              <a:rPr lang="en-US" sz="2000" b="1" dirty="0">
                <a:solidFill>
                  <a:schemeClr val="bg1"/>
                </a:solidFill>
              </a:rPr>
              <a:t> </a:t>
            </a:r>
            <a:endParaRPr lang="vi-VN" sz="2000" b="1" dirty="0">
              <a:solidFill>
                <a:schemeClr val="bg1"/>
              </a:solidFill>
            </a:endParaRPr>
          </a:p>
          <a:p>
            <a:r>
              <a:rPr lang="en-US" sz="2000" b="1" dirty="0">
                <a:solidFill>
                  <a:schemeClr val="bg1"/>
                </a:solidFill>
              </a:rPr>
              <a:t>Bit-Width Selection</a:t>
            </a:r>
            <a:endParaRPr lang="en-US" sz="2000" b="1" dirty="0">
              <a:solidFill>
                <a:schemeClr val="bg1"/>
              </a:solidFill>
            </a:endParaRPr>
          </a:p>
        </p:txBody>
      </p:sp>
      <p:sp>
        <p:nvSpPr>
          <p:cNvPr id="9" name="Text 7"/>
          <p:cNvSpPr/>
          <p:nvPr/>
        </p:nvSpPr>
        <p:spPr>
          <a:xfrm>
            <a:off x="777240" y="271576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03</a:t>
            </a:r>
            <a:endParaRPr lang="en-US" sz="1800" dirty="0"/>
          </a:p>
        </p:txBody>
      </p:sp>
      <p:sp>
        <p:nvSpPr>
          <p:cNvPr id="10" name="Text 8"/>
          <p:cNvSpPr/>
          <p:nvPr/>
        </p:nvSpPr>
        <p:spPr>
          <a:xfrm>
            <a:off x="1600200" y="2743200"/>
            <a:ext cx="4206240" cy="384048"/>
          </a:xfrm>
          <a:prstGeom prst="rect">
            <a:avLst/>
          </a:prstGeom>
          <a:noFill/>
        </p:spPr>
        <p:txBody>
          <a:bodyPr wrap="square" lIns="0" tIns="0" rIns="0" bIns="0" rtlCol="0" anchor="ctr"/>
          <a:lstStyle/>
          <a:p>
            <a:r>
              <a:rPr lang="en-US" sz="2000" b="1" dirty="0">
                <a:solidFill>
                  <a:schemeClr val="bg1"/>
                </a:solidFill>
              </a:rPr>
              <a:t>2×2 Systolic Array Architecture</a:t>
            </a:r>
            <a:endParaRPr lang="en-US" sz="2000" b="1" dirty="0">
              <a:solidFill>
                <a:schemeClr val="bg1"/>
              </a:solidFill>
            </a:endParaRPr>
          </a:p>
        </p:txBody>
      </p:sp>
      <p:sp>
        <p:nvSpPr>
          <p:cNvPr id="11" name="Text 9"/>
          <p:cNvSpPr/>
          <p:nvPr/>
        </p:nvSpPr>
        <p:spPr>
          <a:xfrm>
            <a:off x="6126480" y="271576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04</a:t>
            </a:r>
            <a:endParaRPr lang="en-US" sz="1800" dirty="0"/>
          </a:p>
        </p:txBody>
      </p:sp>
      <p:sp>
        <p:nvSpPr>
          <p:cNvPr id="12" name="Text 10"/>
          <p:cNvSpPr/>
          <p:nvPr/>
        </p:nvSpPr>
        <p:spPr>
          <a:xfrm>
            <a:off x="6949440" y="2743200"/>
            <a:ext cx="4206240" cy="384048"/>
          </a:xfrm>
          <a:prstGeom prst="rect">
            <a:avLst/>
          </a:prstGeom>
          <a:noFill/>
        </p:spPr>
        <p:txBody>
          <a:bodyPr wrap="square" lIns="0" tIns="0" rIns="0" bIns="0" rtlCol="0" anchor="ctr"/>
          <a:lstStyle/>
          <a:p>
            <a:r>
              <a:rPr lang="en-US" sz="2000" b="1" dirty="0">
                <a:solidFill>
                  <a:schemeClr val="bg1"/>
                </a:solidFill>
              </a:rPr>
              <a:t>Verilog Design, Testbench</a:t>
            </a:r>
            <a:r>
              <a:rPr lang="vi-VN" sz="2000" b="1" dirty="0">
                <a:solidFill>
                  <a:schemeClr val="bg1"/>
                </a:solidFill>
              </a:rPr>
              <a:t> &amp;</a:t>
            </a:r>
            <a:r>
              <a:rPr lang="en-US" sz="2000" b="1" dirty="0">
                <a:solidFill>
                  <a:schemeClr val="bg1"/>
                </a:solidFill>
              </a:rPr>
              <a:t> </a:t>
            </a:r>
            <a:endParaRPr lang="vi-VN" sz="2000" b="1" dirty="0">
              <a:solidFill>
                <a:schemeClr val="bg1"/>
              </a:solidFill>
            </a:endParaRPr>
          </a:p>
          <a:p>
            <a:r>
              <a:rPr lang="en-US" sz="2000" b="1" dirty="0">
                <a:solidFill>
                  <a:schemeClr val="bg1"/>
                </a:solidFill>
              </a:rPr>
              <a:t>Python-Based Verification</a:t>
            </a:r>
            <a:endParaRPr lang="en-US" sz="2000" b="1" dirty="0">
              <a:solidFill>
                <a:schemeClr val="bg1"/>
              </a:solidFill>
            </a:endParaRPr>
          </a:p>
        </p:txBody>
      </p:sp>
      <p:sp>
        <p:nvSpPr>
          <p:cNvPr id="13" name="Text 11"/>
          <p:cNvSpPr/>
          <p:nvPr/>
        </p:nvSpPr>
        <p:spPr>
          <a:xfrm>
            <a:off x="777240" y="3950208"/>
            <a:ext cx="640080" cy="420624"/>
          </a:xfrm>
          <a:prstGeom prst="rect">
            <a:avLst/>
          </a:prstGeom>
          <a:solidFill>
            <a:srgbClr val="162032"/>
          </a:solidFill>
          <a:ln>
            <a:solidFill>
              <a:srgbClr val="22D3EE">
                <a:alpha val="75000"/>
              </a:srgbClr>
            </a:solidFill>
          </a:ln>
        </p:spPr>
        <p:txBody>
          <a:bodyPr wrap="square" lIns="0" tIns="0" rIns="0" bIns="0" rtlCol="0" anchor="ctr"/>
          <a:lstStyle/>
          <a:p>
            <a:pPr marL="0" indent="0" algn="ctr">
              <a:buNone/>
            </a:pPr>
            <a:r>
              <a:rPr lang="en-US" sz="1800" b="1" dirty="0">
                <a:solidFill>
                  <a:srgbClr val="22D3EE"/>
                </a:solidFill>
              </a:rPr>
              <a:t>05</a:t>
            </a:r>
            <a:endParaRPr lang="en-US" sz="1800" dirty="0"/>
          </a:p>
        </p:txBody>
      </p:sp>
      <p:sp>
        <p:nvSpPr>
          <p:cNvPr id="14" name="Text 12"/>
          <p:cNvSpPr/>
          <p:nvPr/>
        </p:nvSpPr>
        <p:spPr>
          <a:xfrm>
            <a:off x="1600200" y="3977640"/>
            <a:ext cx="4206240" cy="384048"/>
          </a:xfrm>
          <a:prstGeom prst="rect">
            <a:avLst/>
          </a:prstGeom>
          <a:noFill/>
        </p:spPr>
        <p:txBody>
          <a:bodyPr wrap="square" lIns="0" tIns="0" rIns="0" bIns="0" rtlCol="0" anchor="ctr"/>
          <a:lstStyle/>
          <a:p>
            <a:r>
              <a:rPr lang="en-US" sz="2000" b="1" dirty="0">
                <a:solidFill>
                  <a:schemeClr val="bg1"/>
                </a:solidFill>
              </a:rPr>
              <a:t>Simulation Results </a:t>
            </a:r>
            <a:r>
              <a:rPr lang="vi-VN" sz="2000" b="1" dirty="0">
                <a:solidFill>
                  <a:schemeClr val="bg1"/>
                </a:solidFill>
              </a:rPr>
              <a:t>&amp;</a:t>
            </a:r>
            <a:r>
              <a:rPr lang="en-US" sz="2000" b="1" dirty="0">
                <a:solidFill>
                  <a:schemeClr val="bg1"/>
                </a:solidFill>
              </a:rPr>
              <a:t> </a:t>
            </a:r>
            <a:endParaRPr lang="vi-VN" sz="2000" b="1" dirty="0">
              <a:solidFill>
                <a:schemeClr val="bg1"/>
              </a:solidFill>
            </a:endParaRPr>
          </a:p>
          <a:p>
            <a:r>
              <a:rPr lang="en-US" sz="2000" b="1" dirty="0">
                <a:solidFill>
                  <a:schemeClr val="bg1"/>
                </a:solidFill>
              </a:rPr>
              <a:t>Future Development</a:t>
            </a:r>
            <a:endParaRPr lang="en-US" sz="2000" b="1" dirty="0">
              <a:solidFill>
                <a:schemeClr val="bg1"/>
              </a:solidFill>
            </a:endParaRPr>
          </a:p>
        </p:txBody>
      </p:sp>
      <p:sp>
        <p:nvSpPr>
          <p:cNvPr id="15" name="Text 13"/>
          <p:cNvSpPr/>
          <p:nvPr/>
        </p:nvSpPr>
        <p:spPr>
          <a:xfrm>
            <a:off x="810651" y="5120874"/>
            <a:ext cx="10631658" cy="694710"/>
          </a:xfrm>
          <a:prstGeom prst="rect">
            <a:avLst/>
          </a:prstGeom>
          <a:solidFill>
            <a:srgbClr val="1F2937">
              <a:alpha val="90000"/>
            </a:srgbClr>
          </a:solidFill>
          <a:ln>
            <a:solidFill>
              <a:srgbClr val="334155">
                <a:alpha val="60000"/>
              </a:srgbClr>
            </a:solidFill>
          </a:ln>
        </p:spPr>
        <p:txBody>
          <a:bodyPr wrap="square" lIns="508" tIns="508" rIns="508" bIns="508" rtlCol="0" anchor="ctr"/>
          <a:lstStyle/>
          <a:p>
            <a:pPr algn="ctr"/>
            <a:r>
              <a:rPr lang="en-US" sz="1600" dirty="0">
                <a:solidFill>
                  <a:schemeClr val="bg1"/>
                </a:solidFill>
              </a:rPr>
              <a:t>Final objective: to develop a 2×2 matrix multiplier that correctly supports signed inputs, includes a self-checking testbench, and is validated through simulation results.</a:t>
            </a:r>
            <a:endParaRPr lang="en-US" sz="1600" dirty="0">
              <a:solidFill>
                <a:schemeClr val="bg1"/>
              </a:solidFill>
            </a:endParaRPr>
          </a:p>
        </p:txBody>
      </p:sp>
      <p:sp>
        <p:nvSpPr>
          <p:cNvPr id="16" name="Text 14"/>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17" name="Text 15"/>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02</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1. </a:t>
            </a:r>
            <a:r>
              <a:rPr lang="vi-VN" sz="2800" b="1" dirty="0">
                <a:solidFill>
                  <a:srgbClr val="FFFFFF"/>
                </a:solidFill>
                <a:latin typeface="Aptos Display" pitchFamily="34" charset="0"/>
                <a:ea typeface="Aptos Display" pitchFamily="34" charset="-122"/>
                <a:cs typeface="Aptos Display" pitchFamily="34" charset="-120"/>
              </a:rPr>
              <a:t>2x2 </a:t>
            </a:r>
            <a:r>
              <a:rPr lang="vi-VN" sz="2800" b="1" dirty="0" err="1">
                <a:solidFill>
                  <a:srgbClr val="FFFFFF"/>
                </a:solidFill>
                <a:latin typeface="Aptos Display" pitchFamily="34" charset="0"/>
                <a:ea typeface="Aptos Display" pitchFamily="34" charset="-122"/>
                <a:cs typeface="Aptos Display" pitchFamily="34" charset="-120"/>
              </a:rPr>
              <a:t>Matrix</a:t>
            </a:r>
            <a:r>
              <a:rPr lang="vi-VN" sz="2800" b="1" dirty="0">
                <a:solidFill>
                  <a:srgbClr val="FFFFFF"/>
                </a:solidFill>
                <a:latin typeface="Aptos Display" pitchFamily="34" charset="0"/>
                <a:ea typeface="Aptos Display" pitchFamily="34" charset="-122"/>
                <a:cs typeface="Aptos Display" pitchFamily="34" charset="-120"/>
              </a:rPr>
              <a:t> </a:t>
            </a:r>
            <a:r>
              <a:rPr lang="vi-VN" sz="2800" b="1" dirty="0" err="1">
                <a:solidFill>
                  <a:srgbClr val="FFFFFF"/>
                </a:solidFill>
                <a:latin typeface="Aptos Display" pitchFamily="34" charset="0"/>
                <a:ea typeface="Aptos Display" pitchFamily="34" charset="-122"/>
                <a:cs typeface="Aptos Display" pitchFamily="34" charset="-120"/>
              </a:rPr>
              <a:t>Multiplication</a:t>
            </a:r>
            <a:r>
              <a:rPr lang="vi-VN" sz="2800" b="1" dirty="0">
                <a:solidFill>
                  <a:srgbClr val="FFFFFF"/>
                </a:solidFill>
                <a:latin typeface="Aptos Display" pitchFamily="34" charset="0"/>
                <a:ea typeface="Aptos Display" pitchFamily="34" charset="-122"/>
                <a:cs typeface="Aptos Display" pitchFamily="34" charset="-120"/>
              </a:rPr>
              <a:t> </a:t>
            </a:r>
            <a:r>
              <a:rPr lang="vi-VN" sz="2800" b="1" dirty="0" err="1">
                <a:solidFill>
                  <a:srgbClr val="FFFFFF"/>
                </a:solidFill>
                <a:latin typeface="Aptos Display" pitchFamily="34" charset="0"/>
                <a:ea typeface="Aptos Display" pitchFamily="34" charset="-122"/>
                <a:cs typeface="Aptos Display" pitchFamily="34" charset="-120"/>
              </a:rPr>
              <a:t>Problem</a:t>
            </a:r>
            <a:r>
              <a:rPr lang="vi-VN" sz="2800" b="1" dirty="0">
                <a:solidFill>
                  <a:srgbClr val="FFFFFF"/>
                </a:solidFill>
                <a:latin typeface="Aptos Display" pitchFamily="34" charset="0"/>
                <a:ea typeface="Aptos Display" pitchFamily="34" charset="-122"/>
                <a:cs typeface="Aptos Display" pitchFamily="34" charset="-120"/>
              </a:rPr>
              <a:t> </a:t>
            </a:r>
            <a:endParaRPr lang="en-US" sz="2800" dirty="0"/>
          </a:p>
        </p:txBody>
      </p:sp>
      <p:sp>
        <p:nvSpPr>
          <p:cNvPr id="4" name="Text 2"/>
          <p:cNvSpPr/>
          <p:nvPr/>
        </p:nvSpPr>
        <p:spPr>
          <a:xfrm>
            <a:off x="594360" y="896112"/>
            <a:ext cx="8503920" cy="329184"/>
          </a:xfrm>
          <a:prstGeom prst="rect">
            <a:avLst/>
          </a:prstGeom>
          <a:noFill/>
        </p:spPr>
        <p:txBody>
          <a:bodyPr wrap="square" lIns="0" tIns="0" rIns="0" bIns="0" rtlCol="0" anchor="ctr"/>
          <a:lstStyle/>
          <a:p>
            <a:pPr marL="0" indent="0">
              <a:buNone/>
            </a:pPr>
            <a:r>
              <a:rPr lang="vi-VN" sz="1200" dirty="0" err="1">
                <a:solidFill>
                  <a:srgbClr val="9CA3AF"/>
                </a:solidFill>
              </a:rPr>
              <a:t>Condition</a:t>
            </a:r>
            <a:r>
              <a:rPr lang="vi-VN" sz="1200" dirty="0">
                <a:solidFill>
                  <a:srgbClr val="9CA3AF"/>
                </a:solidFill>
              </a:rPr>
              <a:t>: the </a:t>
            </a:r>
            <a:r>
              <a:rPr lang="vi-VN" sz="1200" dirty="0" err="1">
                <a:solidFill>
                  <a:srgbClr val="9CA3AF"/>
                </a:solidFill>
              </a:rPr>
              <a:t>number</a:t>
            </a:r>
            <a:r>
              <a:rPr lang="vi-VN" sz="1200" dirty="0">
                <a:solidFill>
                  <a:srgbClr val="9CA3AF"/>
                </a:solidFill>
              </a:rPr>
              <a:t> </a:t>
            </a:r>
            <a:r>
              <a:rPr lang="vi-VN" sz="1200" dirty="0" err="1">
                <a:solidFill>
                  <a:srgbClr val="9CA3AF"/>
                </a:solidFill>
              </a:rPr>
              <a:t>of</a:t>
            </a:r>
            <a:r>
              <a:rPr lang="vi-VN" sz="1200" dirty="0">
                <a:solidFill>
                  <a:srgbClr val="9CA3AF"/>
                </a:solidFill>
              </a:rPr>
              <a:t> </a:t>
            </a:r>
            <a:r>
              <a:rPr lang="vi-VN" sz="1200" dirty="0" err="1">
                <a:solidFill>
                  <a:srgbClr val="9CA3AF"/>
                </a:solidFill>
              </a:rPr>
              <a:t>conlumns</a:t>
            </a:r>
            <a:r>
              <a:rPr lang="vi-VN" sz="1200" dirty="0">
                <a:solidFill>
                  <a:srgbClr val="9CA3AF"/>
                </a:solidFill>
              </a:rPr>
              <a:t> in </a:t>
            </a:r>
            <a:r>
              <a:rPr lang="vi-VN" sz="1200" dirty="0" err="1">
                <a:solidFill>
                  <a:srgbClr val="9CA3AF"/>
                </a:solidFill>
              </a:rPr>
              <a:t>matrix</a:t>
            </a:r>
            <a:r>
              <a:rPr lang="vi-VN" sz="1200" dirty="0">
                <a:solidFill>
                  <a:srgbClr val="9CA3AF"/>
                </a:solidFill>
              </a:rPr>
              <a:t> A </a:t>
            </a:r>
            <a:r>
              <a:rPr lang="vi-VN" sz="1200" dirty="0" err="1">
                <a:solidFill>
                  <a:srgbClr val="9CA3AF"/>
                </a:solidFill>
              </a:rPr>
              <a:t>must</a:t>
            </a:r>
            <a:r>
              <a:rPr lang="vi-VN" sz="1200" dirty="0">
                <a:solidFill>
                  <a:srgbClr val="9CA3AF"/>
                </a:solidFill>
              </a:rPr>
              <a:t> </a:t>
            </a:r>
            <a:r>
              <a:rPr lang="vi-VN" sz="1200" dirty="0" err="1">
                <a:solidFill>
                  <a:srgbClr val="9CA3AF"/>
                </a:solidFill>
              </a:rPr>
              <a:t>equal</a:t>
            </a:r>
            <a:r>
              <a:rPr lang="vi-VN" sz="1200" dirty="0">
                <a:solidFill>
                  <a:srgbClr val="9CA3AF"/>
                </a:solidFill>
              </a:rPr>
              <a:t> the </a:t>
            </a:r>
            <a:r>
              <a:rPr lang="vi-VN" sz="1200" dirty="0" err="1">
                <a:solidFill>
                  <a:srgbClr val="9CA3AF"/>
                </a:solidFill>
              </a:rPr>
              <a:t>number</a:t>
            </a:r>
            <a:r>
              <a:rPr lang="vi-VN" sz="1200" dirty="0">
                <a:solidFill>
                  <a:srgbClr val="9CA3AF"/>
                </a:solidFill>
              </a:rPr>
              <a:t> </a:t>
            </a:r>
            <a:r>
              <a:rPr lang="vi-VN" sz="1200" dirty="0" err="1">
                <a:solidFill>
                  <a:srgbClr val="9CA3AF"/>
                </a:solidFill>
              </a:rPr>
              <a:t>of</a:t>
            </a:r>
            <a:r>
              <a:rPr lang="vi-VN" sz="1200" dirty="0">
                <a:solidFill>
                  <a:srgbClr val="9CA3AF"/>
                </a:solidFill>
              </a:rPr>
              <a:t> </a:t>
            </a:r>
            <a:r>
              <a:rPr lang="vi-VN" sz="1200" dirty="0" err="1">
                <a:solidFill>
                  <a:srgbClr val="9CA3AF"/>
                </a:solidFill>
              </a:rPr>
              <a:t>rows</a:t>
            </a:r>
            <a:r>
              <a:rPr lang="vi-VN" sz="1200" dirty="0">
                <a:solidFill>
                  <a:srgbClr val="9CA3AF"/>
                </a:solidFill>
              </a:rPr>
              <a:t> in </a:t>
            </a:r>
            <a:r>
              <a:rPr lang="vi-VN" sz="1200" dirty="0" err="1">
                <a:solidFill>
                  <a:srgbClr val="9CA3AF"/>
                </a:solidFill>
              </a:rPr>
              <a:t>matrix</a:t>
            </a:r>
            <a:r>
              <a:rPr lang="vi-VN" sz="1200" dirty="0">
                <a:solidFill>
                  <a:srgbClr val="9CA3AF"/>
                </a:solidFill>
              </a:rPr>
              <a:t> B</a:t>
            </a:r>
            <a:endParaRPr lang="en-US" sz="1200" dirty="0"/>
          </a:p>
        </p:txBody>
      </p:sp>
      <p:sp>
        <p:nvSpPr>
          <p:cNvPr id="5" name="Text 3"/>
          <p:cNvSpPr/>
          <p:nvPr/>
        </p:nvSpPr>
        <p:spPr>
          <a:xfrm>
            <a:off x="822960" y="1508760"/>
            <a:ext cx="502920" cy="320040"/>
          </a:xfrm>
          <a:prstGeom prst="rect">
            <a:avLst/>
          </a:prstGeom>
          <a:noFill/>
        </p:spPr>
        <p:txBody>
          <a:bodyPr wrap="square" lIns="0" tIns="0" rIns="0" bIns="0" rtlCol="0" anchor="ctr"/>
          <a:lstStyle/>
          <a:p>
            <a:pPr marL="0" indent="0">
              <a:buNone/>
            </a:pPr>
            <a:r>
              <a:rPr lang="en-US" sz="2000" b="1" dirty="0">
                <a:solidFill>
                  <a:srgbClr val="FFFFFF"/>
                </a:solidFill>
              </a:rPr>
              <a:t>A =</a:t>
            </a:r>
            <a:endParaRPr lang="en-US" sz="2000" dirty="0"/>
          </a:p>
        </p:txBody>
      </p:sp>
      <p:sp>
        <p:nvSpPr>
          <p:cNvPr id="6" name="Text 4"/>
          <p:cNvSpPr/>
          <p:nvPr/>
        </p:nvSpPr>
        <p:spPr>
          <a:xfrm>
            <a:off x="1325880" y="1234440"/>
            <a:ext cx="1920240" cy="914400"/>
          </a:xfrm>
          <a:prstGeom prst="rect">
            <a:avLst/>
          </a:prstGeom>
          <a:noFill/>
        </p:spPr>
        <p:txBody>
          <a:bodyPr wrap="square" lIns="635" tIns="635" rIns="635" bIns="635" rtlCol="0" anchor="ctr">
            <a:normAutofit/>
          </a:bodyPr>
          <a:lstStyle/>
          <a:p>
            <a:pPr marL="0" indent="0">
              <a:buNone/>
            </a:pPr>
            <a:r>
              <a:rPr lang="en-US" sz="2000" dirty="0">
                <a:solidFill>
                  <a:srgbClr val="22D3EE"/>
                </a:solidFill>
                <a:latin typeface="Consolas" panose="020B0609020204030204" pitchFamily="34" charset="0"/>
                <a:ea typeface="Consolas" panose="020B0609020204030204" pitchFamily="34" charset="-122"/>
                <a:cs typeface="Consolas" panose="020B0609020204030204" pitchFamily="34" charset="-120"/>
              </a:rPr>
              <a:t>[ a00  a01</a:t>
            </a:r>
            <a:endParaRPr lang="en-US" sz="2000" dirty="0"/>
          </a:p>
          <a:p>
            <a:pPr marL="0" indent="0">
              <a:buNone/>
            </a:pPr>
            <a:r>
              <a:rPr lang="en-US" sz="2000" dirty="0">
                <a:solidFill>
                  <a:srgbClr val="22D3EE"/>
                </a:solidFill>
                <a:latin typeface="Consolas" panose="020B0609020204030204" pitchFamily="34" charset="0"/>
                <a:ea typeface="Consolas" panose="020B0609020204030204" pitchFamily="34" charset="-122"/>
                <a:cs typeface="Consolas" panose="020B0609020204030204" pitchFamily="34" charset="-120"/>
              </a:rPr>
              <a:t>  a10  a11 ]</a:t>
            </a:r>
            <a:endParaRPr lang="en-US" sz="2000" dirty="0"/>
          </a:p>
        </p:txBody>
      </p:sp>
      <p:sp>
        <p:nvSpPr>
          <p:cNvPr id="7" name="Text 5"/>
          <p:cNvSpPr/>
          <p:nvPr/>
        </p:nvSpPr>
        <p:spPr>
          <a:xfrm>
            <a:off x="3794760" y="1508760"/>
            <a:ext cx="502920" cy="320040"/>
          </a:xfrm>
          <a:prstGeom prst="rect">
            <a:avLst/>
          </a:prstGeom>
          <a:noFill/>
        </p:spPr>
        <p:txBody>
          <a:bodyPr wrap="square" lIns="0" tIns="0" rIns="0" bIns="0" rtlCol="0" anchor="ctr"/>
          <a:lstStyle/>
          <a:p>
            <a:pPr marL="0" indent="0">
              <a:buNone/>
            </a:pPr>
            <a:r>
              <a:rPr lang="en-US" sz="2000" b="1" dirty="0">
                <a:solidFill>
                  <a:srgbClr val="FFFFFF"/>
                </a:solidFill>
              </a:rPr>
              <a:t>B =</a:t>
            </a:r>
            <a:endParaRPr lang="en-US" sz="2000" dirty="0"/>
          </a:p>
        </p:txBody>
      </p:sp>
      <p:sp>
        <p:nvSpPr>
          <p:cNvPr id="8" name="Text 6"/>
          <p:cNvSpPr/>
          <p:nvPr/>
        </p:nvSpPr>
        <p:spPr>
          <a:xfrm>
            <a:off x="4297680" y="1234440"/>
            <a:ext cx="1920240" cy="914400"/>
          </a:xfrm>
          <a:prstGeom prst="rect">
            <a:avLst/>
          </a:prstGeom>
          <a:noFill/>
        </p:spPr>
        <p:txBody>
          <a:bodyPr wrap="square" lIns="635" tIns="635" rIns="635" bIns="635" rtlCol="0" anchor="ctr">
            <a:normAutofit/>
          </a:bodyPr>
          <a:lstStyle/>
          <a:p>
            <a:pPr marL="0" indent="0">
              <a:buNone/>
            </a:pPr>
            <a:r>
              <a:rPr lang="en-US" sz="2000" dirty="0">
                <a:solidFill>
                  <a:srgbClr val="FBBF24"/>
                </a:solidFill>
                <a:latin typeface="Consolas" panose="020B0609020204030204" pitchFamily="34" charset="0"/>
                <a:ea typeface="Consolas" panose="020B0609020204030204" pitchFamily="34" charset="-122"/>
                <a:cs typeface="Consolas" panose="020B0609020204030204" pitchFamily="34" charset="-120"/>
              </a:rPr>
              <a:t>[ b00  b01</a:t>
            </a:r>
            <a:endParaRPr lang="en-US" sz="2000" dirty="0"/>
          </a:p>
          <a:p>
            <a:pPr marL="0" indent="0">
              <a:buNone/>
            </a:pPr>
            <a:r>
              <a:rPr lang="en-US" sz="2000" dirty="0">
                <a:solidFill>
                  <a:srgbClr val="FBBF24"/>
                </a:solidFill>
                <a:latin typeface="Consolas" panose="020B0609020204030204" pitchFamily="34" charset="0"/>
                <a:ea typeface="Consolas" panose="020B0609020204030204" pitchFamily="34" charset="-122"/>
                <a:cs typeface="Consolas" panose="020B0609020204030204" pitchFamily="34" charset="-120"/>
              </a:rPr>
              <a:t>  b10  b11 ]</a:t>
            </a:r>
            <a:endParaRPr lang="en-US" sz="2000" dirty="0"/>
          </a:p>
        </p:txBody>
      </p:sp>
      <p:sp>
        <p:nvSpPr>
          <p:cNvPr id="9" name="Text 7"/>
          <p:cNvSpPr/>
          <p:nvPr/>
        </p:nvSpPr>
        <p:spPr>
          <a:xfrm>
            <a:off x="6812280" y="1508760"/>
            <a:ext cx="1554480" cy="320040"/>
          </a:xfrm>
          <a:prstGeom prst="rect">
            <a:avLst/>
          </a:prstGeom>
          <a:noFill/>
        </p:spPr>
        <p:txBody>
          <a:bodyPr wrap="square" lIns="0" tIns="0" rIns="0" bIns="0" rtlCol="0" anchor="ctr"/>
          <a:lstStyle/>
          <a:p>
            <a:pPr marL="0" indent="0">
              <a:buNone/>
            </a:pPr>
            <a:r>
              <a:rPr lang="en-US" sz="2000" b="1" dirty="0">
                <a:solidFill>
                  <a:srgbClr val="FFFFFF"/>
                </a:solidFill>
              </a:rPr>
              <a:t>C = </a:t>
            </a:r>
            <a:r>
              <a:rPr lang="vi-VN" sz="2000" b="1" dirty="0">
                <a:solidFill>
                  <a:srgbClr val="FFFFFF"/>
                </a:solidFill>
              </a:rPr>
              <a:t> </a:t>
            </a:r>
            <a:r>
              <a:rPr lang="en-US" sz="2000" b="1" dirty="0">
                <a:solidFill>
                  <a:srgbClr val="FFFFFF"/>
                </a:solidFill>
              </a:rPr>
              <a:t>A × B =</a:t>
            </a:r>
            <a:endParaRPr lang="en-US" sz="2000" dirty="0"/>
          </a:p>
        </p:txBody>
      </p:sp>
      <p:sp>
        <p:nvSpPr>
          <p:cNvPr id="10" name="Text 8"/>
          <p:cNvSpPr/>
          <p:nvPr/>
        </p:nvSpPr>
        <p:spPr>
          <a:xfrm>
            <a:off x="8412480" y="1234440"/>
            <a:ext cx="1920240" cy="914400"/>
          </a:xfrm>
          <a:prstGeom prst="rect">
            <a:avLst/>
          </a:prstGeom>
          <a:noFill/>
        </p:spPr>
        <p:txBody>
          <a:bodyPr wrap="square" lIns="635" tIns="635" rIns="635" bIns="635" rtlCol="0" anchor="ctr">
            <a:normAutofit/>
          </a:bodyPr>
          <a:lstStyle/>
          <a:p>
            <a:pPr marL="0" indent="0">
              <a:buNone/>
            </a:pPr>
            <a:r>
              <a:rPr lang="en-US" sz="2000" dirty="0">
                <a:solidFill>
                  <a:srgbClr val="34D399"/>
                </a:solidFill>
                <a:latin typeface="Consolas" panose="020B0609020204030204" pitchFamily="34" charset="0"/>
                <a:ea typeface="Consolas" panose="020B0609020204030204" pitchFamily="34" charset="-122"/>
                <a:cs typeface="Consolas" panose="020B0609020204030204" pitchFamily="34" charset="-120"/>
              </a:rPr>
              <a:t>[ c00  c01</a:t>
            </a:r>
            <a:endParaRPr lang="en-US" sz="2000" dirty="0"/>
          </a:p>
          <a:p>
            <a:pPr marL="0" indent="0">
              <a:buNone/>
            </a:pPr>
            <a:r>
              <a:rPr lang="en-US" sz="2000" dirty="0">
                <a:solidFill>
                  <a:srgbClr val="34D399"/>
                </a:solidFill>
                <a:latin typeface="Consolas" panose="020B0609020204030204" pitchFamily="34" charset="0"/>
                <a:ea typeface="Consolas" panose="020B0609020204030204" pitchFamily="34" charset="-122"/>
                <a:cs typeface="Consolas" panose="020B0609020204030204" pitchFamily="34" charset="-120"/>
              </a:rPr>
              <a:t>  c10  c11 ]</a:t>
            </a:r>
            <a:endParaRPr lang="en-US" sz="2000" dirty="0"/>
          </a:p>
        </p:txBody>
      </p:sp>
      <p:sp>
        <p:nvSpPr>
          <p:cNvPr id="11" name="Shape 9"/>
          <p:cNvSpPr/>
          <p:nvPr/>
        </p:nvSpPr>
        <p:spPr>
          <a:xfrm>
            <a:off x="868680" y="2514600"/>
            <a:ext cx="10058400" cy="0"/>
          </a:xfrm>
          <a:prstGeom prst="line">
            <a:avLst/>
          </a:prstGeom>
          <a:noFill/>
          <a:ln w="12700">
            <a:solidFill>
              <a:srgbClr val="334155"/>
            </a:solidFill>
            <a:prstDash val="solid"/>
          </a:ln>
        </p:spPr>
        <p:txBody>
          <a:bodyPr/>
          <a:lstStyle/>
          <a:p>
            <a:endParaRPr lang="en-US"/>
          </a:p>
        </p:txBody>
      </p:sp>
      <p:sp>
        <p:nvSpPr>
          <p:cNvPr id="12" name="Text 10"/>
          <p:cNvSpPr/>
          <p:nvPr/>
        </p:nvSpPr>
        <p:spPr>
          <a:xfrm>
            <a:off x="960120" y="2971800"/>
            <a:ext cx="777240" cy="292608"/>
          </a:xfrm>
          <a:prstGeom prst="rect">
            <a:avLst/>
          </a:prstGeom>
          <a:noFill/>
        </p:spPr>
        <p:txBody>
          <a:bodyPr wrap="square" lIns="0" tIns="0" rIns="0" bIns="0" rtlCol="0" anchor="ctr"/>
          <a:lstStyle/>
          <a:p>
            <a:pPr marL="0" indent="0">
              <a:buNone/>
            </a:pPr>
            <a:r>
              <a:rPr lang="en-US" sz="1900" b="1" dirty="0">
                <a:solidFill>
                  <a:srgbClr val="34D399"/>
                </a:solidFill>
              </a:rPr>
              <a:t>c00 =</a:t>
            </a:r>
            <a:endParaRPr lang="en-US" sz="1900" dirty="0"/>
          </a:p>
        </p:txBody>
      </p:sp>
      <p:sp>
        <p:nvSpPr>
          <p:cNvPr id="13" name="Text 11"/>
          <p:cNvSpPr/>
          <p:nvPr/>
        </p:nvSpPr>
        <p:spPr>
          <a:xfrm>
            <a:off x="1737360" y="2944368"/>
            <a:ext cx="3886200" cy="365760"/>
          </a:xfrm>
          <a:prstGeom prst="rect">
            <a:avLst/>
          </a:prstGeom>
          <a:noFill/>
        </p:spPr>
        <p:txBody>
          <a:bodyPr wrap="square" lIns="254" tIns="254" rIns="254" bIns="254" rtlCol="0" anchor="ctr">
            <a:normAutofit/>
          </a:bodyPr>
          <a:lstStyle/>
          <a:p>
            <a:pPr marL="0" indent="0">
              <a:buNone/>
            </a:pPr>
            <a:r>
              <a:rPr lang="en-US" sz="1700" dirty="0">
                <a:solidFill>
                  <a:srgbClr val="FFFFFF"/>
                </a:solidFill>
                <a:latin typeface="Consolas" panose="020B0609020204030204" pitchFamily="34" charset="0"/>
                <a:ea typeface="Consolas" panose="020B0609020204030204" pitchFamily="34" charset="-122"/>
                <a:cs typeface="Consolas" panose="020B0609020204030204" pitchFamily="34" charset="-120"/>
              </a:rPr>
              <a:t>a00×b00 + a01×b10</a:t>
            </a:r>
            <a:endParaRPr lang="en-US" sz="1700" dirty="0"/>
          </a:p>
        </p:txBody>
      </p:sp>
      <p:sp>
        <p:nvSpPr>
          <p:cNvPr id="14" name="Text 12"/>
          <p:cNvSpPr/>
          <p:nvPr/>
        </p:nvSpPr>
        <p:spPr>
          <a:xfrm>
            <a:off x="6263640" y="2971800"/>
            <a:ext cx="777240" cy="292608"/>
          </a:xfrm>
          <a:prstGeom prst="rect">
            <a:avLst/>
          </a:prstGeom>
          <a:noFill/>
        </p:spPr>
        <p:txBody>
          <a:bodyPr wrap="square" lIns="0" tIns="0" rIns="0" bIns="0" rtlCol="0" anchor="ctr"/>
          <a:lstStyle/>
          <a:p>
            <a:pPr marL="0" indent="0">
              <a:buNone/>
            </a:pPr>
            <a:r>
              <a:rPr lang="en-US" sz="1900" b="1" dirty="0">
                <a:solidFill>
                  <a:srgbClr val="34D399"/>
                </a:solidFill>
              </a:rPr>
              <a:t>c01 =</a:t>
            </a:r>
            <a:endParaRPr lang="en-US" sz="1900" dirty="0"/>
          </a:p>
        </p:txBody>
      </p:sp>
      <p:sp>
        <p:nvSpPr>
          <p:cNvPr id="15" name="Text 13"/>
          <p:cNvSpPr/>
          <p:nvPr/>
        </p:nvSpPr>
        <p:spPr>
          <a:xfrm>
            <a:off x="7040880" y="2944368"/>
            <a:ext cx="3886200" cy="365760"/>
          </a:xfrm>
          <a:prstGeom prst="rect">
            <a:avLst/>
          </a:prstGeom>
          <a:noFill/>
        </p:spPr>
        <p:txBody>
          <a:bodyPr wrap="square" lIns="254" tIns="254" rIns="254" bIns="254" rtlCol="0" anchor="ctr">
            <a:normAutofit/>
          </a:bodyPr>
          <a:lstStyle/>
          <a:p>
            <a:pPr marL="0" indent="0">
              <a:buNone/>
            </a:pPr>
            <a:r>
              <a:rPr lang="en-US" sz="1700" dirty="0">
                <a:solidFill>
                  <a:srgbClr val="FFFFFF"/>
                </a:solidFill>
                <a:latin typeface="Consolas" panose="020B0609020204030204" pitchFamily="34" charset="0"/>
                <a:ea typeface="Consolas" panose="020B0609020204030204" pitchFamily="34" charset="-122"/>
                <a:cs typeface="Consolas" panose="020B0609020204030204" pitchFamily="34" charset="-120"/>
              </a:rPr>
              <a:t>a00×b01 + a01×b11</a:t>
            </a:r>
            <a:endParaRPr lang="en-US" sz="1700" dirty="0"/>
          </a:p>
        </p:txBody>
      </p:sp>
      <p:sp>
        <p:nvSpPr>
          <p:cNvPr id="16" name="Text 14"/>
          <p:cNvSpPr/>
          <p:nvPr/>
        </p:nvSpPr>
        <p:spPr>
          <a:xfrm>
            <a:off x="960120" y="3931920"/>
            <a:ext cx="777240" cy="292608"/>
          </a:xfrm>
          <a:prstGeom prst="rect">
            <a:avLst/>
          </a:prstGeom>
          <a:noFill/>
        </p:spPr>
        <p:txBody>
          <a:bodyPr wrap="square" lIns="0" tIns="0" rIns="0" bIns="0" rtlCol="0" anchor="ctr"/>
          <a:lstStyle/>
          <a:p>
            <a:pPr marL="0" indent="0">
              <a:buNone/>
            </a:pPr>
            <a:r>
              <a:rPr lang="en-US" sz="1900" b="1" dirty="0">
                <a:solidFill>
                  <a:srgbClr val="34D399"/>
                </a:solidFill>
              </a:rPr>
              <a:t>c10 =</a:t>
            </a:r>
            <a:endParaRPr lang="en-US" sz="1900" dirty="0"/>
          </a:p>
        </p:txBody>
      </p:sp>
      <p:sp>
        <p:nvSpPr>
          <p:cNvPr id="17" name="Text 15"/>
          <p:cNvSpPr/>
          <p:nvPr/>
        </p:nvSpPr>
        <p:spPr>
          <a:xfrm>
            <a:off x="1737360" y="3904488"/>
            <a:ext cx="3886200" cy="365760"/>
          </a:xfrm>
          <a:prstGeom prst="rect">
            <a:avLst/>
          </a:prstGeom>
          <a:noFill/>
        </p:spPr>
        <p:txBody>
          <a:bodyPr wrap="square" lIns="254" tIns="254" rIns="254" bIns="254" rtlCol="0" anchor="ctr">
            <a:normAutofit/>
          </a:bodyPr>
          <a:lstStyle/>
          <a:p>
            <a:pPr marL="0" indent="0">
              <a:buNone/>
            </a:pPr>
            <a:r>
              <a:rPr lang="en-US" sz="1700" dirty="0">
                <a:solidFill>
                  <a:srgbClr val="FFFFFF"/>
                </a:solidFill>
                <a:latin typeface="Consolas" panose="020B0609020204030204" pitchFamily="34" charset="0"/>
                <a:ea typeface="Consolas" panose="020B0609020204030204" pitchFamily="34" charset="-122"/>
                <a:cs typeface="Consolas" panose="020B0609020204030204" pitchFamily="34" charset="-120"/>
              </a:rPr>
              <a:t>a10×b00 + a11×b10</a:t>
            </a:r>
            <a:endParaRPr lang="en-US" sz="1700" dirty="0"/>
          </a:p>
        </p:txBody>
      </p:sp>
      <p:sp>
        <p:nvSpPr>
          <p:cNvPr id="18" name="Text 16"/>
          <p:cNvSpPr/>
          <p:nvPr/>
        </p:nvSpPr>
        <p:spPr>
          <a:xfrm>
            <a:off x="6263640" y="3931920"/>
            <a:ext cx="777240" cy="292608"/>
          </a:xfrm>
          <a:prstGeom prst="rect">
            <a:avLst/>
          </a:prstGeom>
          <a:noFill/>
        </p:spPr>
        <p:txBody>
          <a:bodyPr wrap="square" lIns="0" tIns="0" rIns="0" bIns="0" rtlCol="0" anchor="ctr"/>
          <a:lstStyle/>
          <a:p>
            <a:pPr marL="0" indent="0">
              <a:buNone/>
            </a:pPr>
            <a:r>
              <a:rPr lang="en-US" sz="1900" b="1" dirty="0">
                <a:solidFill>
                  <a:srgbClr val="34D399"/>
                </a:solidFill>
              </a:rPr>
              <a:t>c11 =</a:t>
            </a:r>
            <a:endParaRPr lang="en-US" sz="1900" dirty="0"/>
          </a:p>
        </p:txBody>
      </p:sp>
      <p:sp>
        <p:nvSpPr>
          <p:cNvPr id="19" name="Text 17"/>
          <p:cNvSpPr/>
          <p:nvPr/>
        </p:nvSpPr>
        <p:spPr>
          <a:xfrm>
            <a:off x="7040880" y="3904488"/>
            <a:ext cx="3886200" cy="365760"/>
          </a:xfrm>
          <a:prstGeom prst="rect">
            <a:avLst/>
          </a:prstGeom>
          <a:noFill/>
        </p:spPr>
        <p:txBody>
          <a:bodyPr wrap="square" lIns="254" tIns="254" rIns="254" bIns="254" rtlCol="0" anchor="ctr">
            <a:normAutofit/>
          </a:bodyPr>
          <a:lstStyle/>
          <a:p>
            <a:pPr marL="0" indent="0">
              <a:buNone/>
            </a:pPr>
            <a:r>
              <a:rPr lang="en-US" sz="1700" dirty="0">
                <a:solidFill>
                  <a:srgbClr val="FFFFFF"/>
                </a:solidFill>
                <a:latin typeface="Consolas" panose="020B0609020204030204" pitchFamily="34" charset="0"/>
                <a:ea typeface="Consolas" panose="020B0609020204030204" pitchFamily="34" charset="-122"/>
                <a:cs typeface="Consolas" panose="020B0609020204030204" pitchFamily="34" charset="-120"/>
              </a:rPr>
              <a:t>a10×b01 + a11×b11</a:t>
            </a:r>
            <a:endParaRPr lang="en-US" sz="1700" dirty="0"/>
          </a:p>
        </p:txBody>
      </p:sp>
      <mc:AlternateContent xmlns:mc="http://schemas.openxmlformats.org/markup-compatibility/2006">
        <mc:Choice xmlns:a14="http://schemas.microsoft.com/office/drawing/2010/main" Requires="a14">
          <p:sp>
            <p:nvSpPr>
              <p:cNvPr id="20" name="Text 18"/>
              <p:cNvSpPr/>
              <p:nvPr/>
            </p:nvSpPr>
            <p:spPr>
              <a:xfrm>
                <a:off x="786970" y="5248655"/>
                <a:ext cx="10618060" cy="671729"/>
              </a:xfrm>
              <a:prstGeom prst="rect">
                <a:avLst/>
              </a:prstGeom>
              <a:solidFill>
                <a:srgbClr val="1F2937">
                  <a:alpha val="95000"/>
                </a:srgbClr>
              </a:solidFill>
              <a:ln>
                <a:solidFill>
                  <a:srgbClr val="334155">
                    <a:alpha val="70000"/>
                  </a:srgbClr>
                </a:solidFill>
              </a:ln>
            </p:spPr>
            <p:txBody>
              <a:bodyPr wrap="square" lIns="508" tIns="508" rIns="508" bIns="508" rtlCol="0" anchor="ctr"/>
              <a:lstStyle/>
              <a:p>
                <a:pPr algn="ctr"/>
                <a:r>
                  <a:rPr lang="en-US" sz="1600" dirty="0">
                    <a:solidFill>
                      <a:schemeClr val="bg1"/>
                    </a:solidFill>
                  </a:rPr>
                  <a:t>Each output element </a:t>
                </a:r>
                <a14:m>
                  <m:oMath xmlns:m="http://schemas.openxmlformats.org/officeDocument/2006/math">
                    <m:r>
                      <a:rPr lang="en-US" i="1">
                        <a:solidFill>
                          <a:schemeClr val="bg1"/>
                        </a:solidFill>
                        <a:latin typeface="Cambria Math" panose="02040503050406030204" pitchFamily="18" charset="0"/>
                      </a:rPr>
                      <m:t>𝐶</m:t>
                    </m:r>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𝑖</m:t>
                        </m:r>
                      </m:e>
                    </m:d>
                    <m:d>
                      <m:dPr>
                        <m:begChr m:val="["/>
                        <m:endChr m:val="]"/>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𝑗</m:t>
                        </m:r>
                      </m:e>
                    </m:d>
                  </m:oMath>
                </a14:m>
                <a:r>
                  <a:rPr lang="en-US" sz="1600" dirty="0">
                    <a:solidFill>
                      <a:schemeClr val="bg1"/>
                    </a:solidFill>
                  </a:rPr>
                  <a:t>requires two multiplications and one addition. Therefore, a complete 2×2 matrix multiplication requires eight multiplications and four additions.</a:t>
                </a:r>
                <a:endParaRPr lang="en-US" sz="1600" dirty="0">
                  <a:solidFill>
                    <a:schemeClr val="bg1"/>
                  </a:solidFill>
                </a:endParaRPr>
              </a:p>
            </p:txBody>
          </p:sp>
        </mc:Choice>
        <mc:Fallback>
          <p:sp>
            <p:nvSpPr>
              <p:cNvPr id="20" name="Text 18"/>
              <p:cNvSpPr>
                <a:spLocks noRot="1" noChangeAspect="1" noMove="1" noResize="1" noEditPoints="1" noAdjustHandles="1" noChangeArrowheads="1" noChangeShapeType="1" noTextEdit="1"/>
              </p:cNvSpPr>
              <p:nvPr/>
            </p:nvSpPr>
            <p:spPr>
              <a:xfrm>
                <a:off x="786970" y="5248655"/>
                <a:ext cx="10618060" cy="671729"/>
              </a:xfrm>
              <a:prstGeom prst="rect">
                <a:avLst/>
              </a:prstGeom>
              <a:blipFill rotWithShape="1">
                <a:blip r:embed="rId1"/>
                <a:stretch>
                  <a:fillRect l="-50" t="-718" r="-44" b="-620"/>
                </a:stretch>
              </a:blipFill>
              <a:ln>
                <a:solidFill>
                  <a:srgbClr val="334155">
                    <a:alpha val="70000"/>
                  </a:srgbClr>
                </a:solidFill>
              </a:ln>
            </p:spPr>
            <p:txBody>
              <a:bodyPr/>
              <a:lstStyle/>
              <a:p>
                <a:r>
                  <a:rPr lang="en-US" altLang="en-US">
                    <a:noFill/>
                  </a:rPr>
                  <a:t> </a:t>
                </a:r>
              </a:p>
            </p:txBody>
          </p:sp>
        </mc:Fallback>
      </mc:AlternateContent>
      <p:sp>
        <p:nvSpPr>
          <p:cNvPr id="21" name="Text 19"/>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22" name="Text 20"/>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03</a:t>
            </a:r>
            <a:endParaRPr lang="en-US" sz="850" dirty="0"/>
          </a:p>
        </p:txBody>
      </p:sp>
      <p:pic>
        <p:nvPicPr>
          <p:cNvPr id="34" name="Picture 33"/>
          <p:cNvPicPr>
            <a:picLocks noChangeAspect="1"/>
          </p:cNvPicPr>
          <p:nvPr/>
        </p:nvPicPr>
        <p:blipFill>
          <a:blip r:embed="rId2"/>
          <a:stretch>
            <a:fillRect/>
          </a:stretch>
        </p:blipFill>
        <p:spPr>
          <a:xfrm>
            <a:off x="9996170" y="409575"/>
            <a:ext cx="1939290" cy="756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rgbClr val="FFFFFF"/>
                </a:solidFill>
                <a:latin typeface="Aptos Display" pitchFamily="34" charset="0"/>
                <a:ea typeface="Aptos Display" pitchFamily="34" charset="-122"/>
                <a:cs typeface="Aptos Display" pitchFamily="34" charset="-120"/>
              </a:rPr>
              <a:t>2. </a:t>
            </a:r>
            <a:r>
              <a:rPr lang="en-US" sz="2800" b="1" dirty="0">
                <a:solidFill>
                  <a:schemeClr val="bg1"/>
                </a:solidFill>
              </a:rPr>
              <a:t>Why Choose FPGA and a Systolic Array?</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FPGAs are well suited for repetitive computations, parallel execution, and pipelined processing.</a:t>
            </a:r>
            <a:endParaRPr lang="en-US" sz="1200" dirty="0">
              <a:solidFill>
                <a:schemeClr val="bg1"/>
              </a:solidFill>
            </a:endParaRPr>
          </a:p>
        </p:txBody>
      </p:sp>
      <p:sp>
        <p:nvSpPr>
          <p:cNvPr id="5" name="Text 3"/>
          <p:cNvSpPr/>
          <p:nvPr/>
        </p:nvSpPr>
        <p:spPr>
          <a:xfrm>
            <a:off x="832104" y="2636520"/>
            <a:ext cx="1143000" cy="685800"/>
          </a:xfrm>
          <a:prstGeom prst="rect">
            <a:avLst/>
          </a:prstGeom>
          <a:solidFill>
            <a:srgbClr val="162032"/>
          </a:solidFill>
          <a:ln w="12700">
            <a:solidFill>
              <a:srgbClr val="22D3EE"/>
            </a:solidFill>
          </a:ln>
        </p:spPr>
        <p:txBody>
          <a:bodyPr wrap="square" lIns="254" tIns="254" rIns="254" bIns="254" rtlCol="0" anchor="ctr"/>
          <a:lstStyle/>
          <a:p>
            <a:pPr marL="0" indent="0" algn="ctr">
              <a:buNone/>
            </a:pPr>
            <a:r>
              <a:rPr lang="en-US" sz="1200" b="1" dirty="0">
                <a:solidFill>
                  <a:srgbClr val="FFFFFF"/>
                </a:solidFill>
              </a:rPr>
              <a:t>A</a:t>
            </a:r>
            <a:endParaRPr lang="en-US" sz="1200" dirty="0"/>
          </a:p>
        </p:txBody>
      </p:sp>
      <p:sp>
        <p:nvSpPr>
          <p:cNvPr id="6" name="Shape 4"/>
          <p:cNvSpPr/>
          <p:nvPr/>
        </p:nvSpPr>
        <p:spPr>
          <a:xfrm>
            <a:off x="758952" y="2746248"/>
            <a:ext cx="54864" cy="45720"/>
          </a:xfrm>
          <a:prstGeom prst="rect">
            <a:avLst/>
          </a:prstGeom>
          <a:solidFill>
            <a:srgbClr val="22D3EE"/>
          </a:solidFill>
          <a:ln w="12700">
            <a:solidFill>
              <a:srgbClr val="22D3EE"/>
            </a:solidFill>
            <a:prstDash val="solid"/>
          </a:ln>
        </p:spPr>
        <p:txBody>
          <a:bodyPr/>
          <a:lstStyle/>
          <a:p>
            <a:endParaRPr lang="en-US"/>
          </a:p>
        </p:txBody>
      </p:sp>
      <p:sp>
        <p:nvSpPr>
          <p:cNvPr id="7" name="Shape 5"/>
          <p:cNvSpPr/>
          <p:nvPr/>
        </p:nvSpPr>
        <p:spPr>
          <a:xfrm>
            <a:off x="1993392" y="2746248"/>
            <a:ext cx="54864" cy="45720"/>
          </a:xfrm>
          <a:prstGeom prst="rect">
            <a:avLst/>
          </a:prstGeom>
          <a:solidFill>
            <a:srgbClr val="22D3EE"/>
          </a:solidFill>
          <a:ln w="12700">
            <a:solidFill>
              <a:srgbClr val="22D3EE"/>
            </a:solidFill>
            <a:prstDash val="solid"/>
          </a:ln>
        </p:spPr>
        <p:txBody>
          <a:bodyPr/>
          <a:lstStyle/>
          <a:p>
            <a:endParaRPr lang="en-US"/>
          </a:p>
        </p:txBody>
      </p:sp>
      <p:sp>
        <p:nvSpPr>
          <p:cNvPr id="8" name="Shape 6"/>
          <p:cNvSpPr/>
          <p:nvPr/>
        </p:nvSpPr>
        <p:spPr>
          <a:xfrm>
            <a:off x="758952" y="2901696"/>
            <a:ext cx="54864" cy="45720"/>
          </a:xfrm>
          <a:prstGeom prst="rect">
            <a:avLst/>
          </a:prstGeom>
          <a:solidFill>
            <a:srgbClr val="22D3EE"/>
          </a:solidFill>
          <a:ln w="12700">
            <a:solidFill>
              <a:srgbClr val="22D3EE"/>
            </a:solidFill>
            <a:prstDash val="solid"/>
          </a:ln>
        </p:spPr>
        <p:txBody>
          <a:bodyPr/>
          <a:lstStyle/>
          <a:p>
            <a:endParaRPr lang="en-US"/>
          </a:p>
        </p:txBody>
      </p:sp>
      <p:sp>
        <p:nvSpPr>
          <p:cNvPr id="9" name="Shape 7"/>
          <p:cNvSpPr/>
          <p:nvPr/>
        </p:nvSpPr>
        <p:spPr>
          <a:xfrm>
            <a:off x="1993392" y="2901696"/>
            <a:ext cx="54864" cy="45720"/>
          </a:xfrm>
          <a:prstGeom prst="rect">
            <a:avLst/>
          </a:prstGeom>
          <a:solidFill>
            <a:srgbClr val="22D3EE"/>
          </a:solidFill>
          <a:ln w="12700">
            <a:solidFill>
              <a:srgbClr val="22D3EE"/>
            </a:solidFill>
            <a:prstDash val="solid"/>
          </a:ln>
        </p:spPr>
        <p:txBody>
          <a:bodyPr/>
          <a:lstStyle/>
          <a:p>
            <a:endParaRPr lang="en-US"/>
          </a:p>
        </p:txBody>
      </p:sp>
      <p:sp>
        <p:nvSpPr>
          <p:cNvPr id="10" name="Shape 8"/>
          <p:cNvSpPr/>
          <p:nvPr/>
        </p:nvSpPr>
        <p:spPr>
          <a:xfrm>
            <a:off x="758952" y="3057144"/>
            <a:ext cx="54864" cy="45720"/>
          </a:xfrm>
          <a:prstGeom prst="rect">
            <a:avLst/>
          </a:prstGeom>
          <a:solidFill>
            <a:srgbClr val="22D3EE"/>
          </a:solidFill>
          <a:ln w="12700">
            <a:solidFill>
              <a:srgbClr val="22D3EE"/>
            </a:solidFill>
            <a:prstDash val="solid"/>
          </a:ln>
        </p:spPr>
        <p:txBody>
          <a:bodyPr/>
          <a:lstStyle/>
          <a:p>
            <a:endParaRPr lang="en-US"/>
          </a:p>
        </p:txBody>
      </p:sp>
      <p:sp>
        <p:nvSpPr>
          <p:cNvPr id="11" name="Shape 9"/>
          <p:cNvSpPr/>
          <p:nvPr/>
        </p:nvSpPr>
        <p:spPr>
          <a:xfrm>
            <a:off x="1993392" y="3057144"/>
            <a:ext cx="54864" cy="45720"/>
          </a:xfrm>
          <a:prstGeom prst="rect">
            <a:avLst/>
          </a:prstGeom>
          <a:solidFill>
            <a:srgbClr val="22D3EE"/>
          </a:solidFill>
          <a:ln w="12700">
            <a:solidFill>
              <a:srgbClr val="22D3EE"/>
            </a:solidFill>
            <a:prstDash val="solid"/>
          </a:ln>
        </p:spPr>
        <p:txBody>
          <a:bodyPr/>
          <a:lstStyle/>
          <a:p>
            <a:endParaRPr lang="en-US"/>
          </a:p>
        </p:txBody>
      </p:sp>
      <p:sp>
        <p:nvSpPr>
          <p:cNvPr id="12" name="Shape 10"/>
          <p:cNvSpPr/>
          <p:nvPr/>
        </p:nvSpPr>
        <p:spPr>
          <a:xfrm>
            <a:off x="758952" y="3212592"/>
            <a:ext cx="54864" cy="45720"/>
          </a:xfrm>
          <a:prstGeom prst="rect">
            <a:avLst/>
          </a:prstGeom>
          <a:solidFill>
            <a:srgbClr val="22D3EE"/>
          </a:solidFill>
          <a:ln w="12700">
            <a:solidFill>
              <a:srgbClr val="22D3EE"/>
            </a:solidFill>
            <a:prstDash val="solid"/>
          </a:ln>
        </p:spPr>
        <p:txBody>
          <a:bodyPr/>
          <a:lstStyle/>
          <a:p>
            <a:endParaRPr lang="en-US"/>
          </a:p>
        </p:txBody>
      </p:sp>
      <p:sp>
        <p:nvSpPr>
          <p:cNvPr id="13" name="Shape 11"/>
          <p:cNvSpPr/>
          <p:nvPr/>
        </p:nvSpPr>
        <p:spPr>
          <a:xfrm>
            <a:off x="1993392" y="3212592"/>
            <a:ext cx="54864" cy="45720"/>
          </a:xfrm>
          <a:prstGeom prst="rect">
            <a:avLst/>
          </a:prstGeom>
          <a:solidFill>
            <a:srgbClr val="22D3EE"/>
          </a:solidFill>
          <a:ln w="12700">
            <a:solidFill>
              <a:srgbClr val="22D3EE"/>
            </a:solidFill>
            <a:prstDash val="solid"/>
          </a:ln>
        </p:spPr>
        <p:txBody>
          <a:bodyPr/>
          <a:lstStyle/>
          <a:p>
            <a:endParaRPr lang="en-US"/>
          </a:p>
        </p:txBody>
      </p:sp>
      <p:sp>
        <p:nvSpPr>
          <p:cNvPr id="14" name="Text 12"/>
          <p:cNvSpPr/>
          <p:nvPr/>
        </p:nvSpPr>
        <p:spPr>
          <a:xfrm>
            <a:off x="777240" y="4139184"/>
            <a:ext cx="1143000" cy="685800"/>
          </a:xfrm>
          <a:prstGeom prst="rect">
            <a:avLst/>
          </a:prstGeom>
          <a:solidFill>
            <a:srgbClr val="162032"/>
          </a:solidFill>
          <a:ln w="12700">
            <a:solidFill>
              <a:srgbClr val="22D3EE"/>
            </a:solidFill>
          </a:ln>
        </p:spPr>
        <p:txBody>
          <a:bodyPr wrap="square" lIns="254" tIns="254" rIns="254" bIns="254" rtlCol="0" anchor="ctr"/>
          <a:lstStyle/>
          <a:p>
            <a:pPr marL="0" indent="0" algn="ctr">
              <a:buNone/>
            </a:pPr>
            <a:r>
              <a:rPr lang="en-US" sz="1200" b="1" dirty="0">
                <a:solidFill>
                  <a:srgbClr val="FFFFFF"/>
                </a:solidFill>
              </a:rPr>
              <a:t>B</a:t>
            </a:r>
            <a:endParaRPr lang="en-US" sz="1200" dirty="0"/>
          </a:p>
        </p:txBody>
      </p:sp>
      <p:sp>
        <p:nvSpPr>
          <p:cNvPr id="15" name="Shape 13"/>
          <p:cNvSpPr/>
          <p:nvPr/>
        </p:nvSpPr>
        <p:spPr>
          <a:xfrm>
            <a:off x="704088" y="4248912"/>
            <a:ext cx="54864" cy="45720"/>
          </a:xfrm>
          <a:prstGeom prst="rect">
            <a:avLst/>
          </a:prstGeom>
          <a:solidFill>
            <a:srgbClr val="22D3EE"/>
          </a:solidFill>
          <a:ln w="12700">
            <a:solidFill>
              <a:srgbClr val="22D3EE"/>
            </a:solidFill>
            <a:prstDash val="solid"/>
          </a:ln>
        </p:spPr>
        <p:txBody>
          <a:bodyPr/>
          <a:lstStyle/>
          <a:p>
            <a:endParaRPr lang="en-US"/>
          </a:p>
        </p:txBody>
      </p:sp>
      <p:sp>
        <p:nvSpPr>
          <p:cNvPr id="16" name="Shape 14"/>
          <p:cNvSpPr/>
          <p:nvPr/>
        </p:nvSpPr>
        <p:spPr>
          <a:xfrm>
            <a:off x="1938528" y="4248912"/>
            <a:ext cx="54864" cy="45720"/>
          </a:xfrm>
          <a:prstGeom prst="rect">
            <a:avLst/>
          </a:prstGeom>
          <a:solidFill>
            <a:srgbClr val="22D3EE"/>
          </a:solidFill>
          <a:ln w="12700">
            <a:solidFill>
              <a:srgbClr val="22D3EE"/>
            </a:solidFill>
            <a:prstDash val="solid"/>
          </a:ln>
        </p:spPr>
        <p:txBody>
          <a:bodyPr/>
          <a:lstStyle/>
          <a:p>
            <a:endParaRPr lang="en-US"/>
          </a:p>
        </p:txBody>
      </p:sp>
      <p:sp>
        <p:nvSpPr>
          <p:cNvPr id="17" name="Shape 15"/>
          <p:cNvSpPr/>
          <p:nvPr/>
        </p:nvSpPr>
        <p:spPr>
          <a:xfrm>
            <a:off x="704088" y="4404360"/>
            <a:ext cx="54864" cy="45720"/>
          </a:xfrm>
          <a:prstGeom prst="rect">
            <a:avLst/>
          </a:prstGeom>
          <a:solidFill>
            <a:srgbClr val="22D3EE"/>
          </a:solidFill>
          <a:ln w="12700">
            <a:solidFill>
              <a:srgbClr val="22D3EE"/>
            </a:solidFill>
            <a:prstDash val="solid"/>
          </a:ln>
        </p:spPr>
        <p:txBody>
          <a:bodyPr/>
          <a:lstStyle/>
          <a:p>
            <a:endParaRPr lang="en-US"/>
          </a:p>
        </p:txBody>
      </p:sp>
      <p:sp>
        <p:nvSpPr>
          <p:cNvPr id="18" name="Shape 16"/>
          <p:cNvSpPr/>
          <p:nvPr/>
        </p:nvSpPr>
        <p:spPr>
          <a:xfrm>
            <a:off x="1938528" y="4404360"/>
            <a:ext cx="54864" cy="45720"/>
          </a:xfrm>
          <a:prstGeom prst="rect">
            <a:avLst/>
          </a:prstGeom>
          <a:solidFill>
            <a:srgbClr val="22D3EE"/>
          </a:solidFill>
          <a:ln w="12700">
            <a:solidFill>
              <a:srgbClr val="22D3EE"/>
            </a:solidFill>
            <a:prstDash val="solid"/>
          </a:ln>
        </p:spPr>
        <p:txBody>
          <a:bodyPr/>
          <a:lstStyle/>
          <a:p>
            <a:endParaRPr lang="en-US"/>
          </a:p>
        </p:txBody>
      </p:sp>
      <p:sp>
        <p:nvSpPr>
          <p:cNvPr id="19" name="Shape 17"/>
          <p:cNvSpPr/>
          <p:nvPr/>
        </p:nvSpPr>
        <p:spPr>
          <a:xfrm>
            <a:off x="704088" y="4559808"/>
            <a:ext cx="54864" cy="45720"/>
          </a:xfrm>
          <a:prstGeom prst="rect">
            <a:avLst/>
          </a:prstGeom>
          <a:solidFill>
            <a:srgbClr val="22D3EE"/>
          </a:solidFill>
          <a:ln w="12700">
            <a:solidFill>
              <a:srgbClr val="22D3EE"/>
            </a:solidFill>
            <a:prstDash val="solid"/>
          </a:ln>
        </p:spPr>
        <p:txBody>
          <a:bodyPr/>
          <a:lstStyle/>
          <a:p>
            <a:endParaRPr lang="en-US"/>
          </a:p>
        </p:txBody>
      </p:sp>
      <p:sp>
        <p:nvSpPr>
          <p:cNvPr id="20" name="Shape 18"/>
          <p:cNvSpPr/>
          <p:nvPr/>
        </p:nvSpPr>
        <p:spPr>
          <a:xfrm>
            <a:off x="1938528" y="4559808"/>
            <a:ext cx="54864" cy="45720"/>
          </a:xfrm>
          <a:prstGeom prst="rect">
            <a:avLst/>
          </a:prstGeom>
          <a:solidFill>
            <a:srgbClr val="22D3EE"/>
          </a:solidFill>
          <a:ln w="12700">
            <a:solidFill>
              <a:srgbClr val="22D3EE"/>
            </a:solidFill>
            <a:prstDash val="solid"/>
          </a:ln>
        </p:spPr>
        <p:txBody>
          <a:bodyPr/>
          <a:lstStyle/>
          <a:p>
            <a:endParaRPr lang="en-US"/>
          </a:p>
        </p:txBody>
      </p:sp>
      <p:sp>
        <p:nvSpPr>
          <p:cNvPr id="21" name="Shape 19"/>
          <p:cNvSpPr/>
          <p:nvPr/>
        </p:nvSpPr>
        <p:spPr>
          <a:xfrm>
            <a:off x="704088" y="4715256"/>
            <a:ext cx="54864" cy="45720"/>
          </a:xfrm>
          <a:prstGeom prst="rect">
            <a:avLst/>
          </a:prstGeom>
          <a:solidFill>
            <a:srgbClr val="22D3EE"/>
          </a:solidFill>
          <a:ln w="12700">
            <a:solidFill>
              <a:srgbClr val="22D3EE"/>
            </a:solidFill>
            <a:prstDash val="solid"/>
          </a:ln>
        </p:spPr>
        <p:txBody>
          <a:bodyPr/>
          <a:lstStyle/>
          <a:p>
            <a:endParaRPr lang="en-US"/>
          </a:p>
        </p:txBody>
      </p:sp>
      <p:sp>
        <p:nvSpPr>
          <p:cNvPr id="22" name="Shape 20"/>
          <p:cNvSpPr/>
          <p:nvPr/>
        </p:nvSpPr>
        <p:spPr>
          <a:xfrm>
            <a:off x="1938528" y="4715256"/>
            <a:ext cx="54864" cy="45720"/>
          </a:xfrm>
          <a:prstGeom prst="rect">
            <a:avLst/>
          </a:prstGeom>
          <a:solidFill>
            <a:srgbClr val="22D3EE"/>
          </a:solidFill>
          <a:ln w="12700">
            <a:solidFill>
              <a:srgbClr val="22D3EE"/>
            </a:solidFill>
            <a:prstDash val="solid"/>
          </a:ln>
        </p:spPr>
        <p:txBody>
          <a:bodyPr/>
          <a:lstStyle/>
          <a:p>
            <a:endParaRPr lang="en-US"/>
          </a:p>
        </p:txBody>
      </p:sp>
      <p:sp>
        <p:nvSpPr>
          <p:cNvPr id="23" name="Shape 21"/>
          <p:cNvSpPr/>
          <p:nvPr/>
        </p:nvSpPr>
        <p:spPr>
          <a:xfrm>
            <a:off x="2057400" y="3019161"/>
            <a:ext cx="1051560" cy="0"/>
          </a:xfrm>
          <a:prstGeom prst="line">
            <a:avLst/>
          </a:prstGeom>
          <a:noFill/>
          <a:ln w="25400">
            <a:solidFill>
              <a:srgbClr val="22D3EE"/>
            </a:solidFill>
            <a:prstDash val="solid"/>
            <a:tailEnd type="triangle"/>
          </a:ln>
        </p:spPr>
        <p:txBody>
          <a:bodyPr/>
          <a:lstStyle/>
          <a:p>
            <a:endParaRPr lang="en-US"/>
          </a:p>
        </p:txBody>
      </p:sp>
      <p:sp>
        <p:nvSpPr>
          <p:cNvPr id="24" name="Shape 22"/>
          <p:cNvSpPr/>
          <p:nvPr/>
        </p:nvSpPr>
        <p:spPr>
          <a:xfrm>
            <a:off x="2048256" y="4516433"/>
            <a:ext cx="1051560" cy="0"/>
          </a:xfrm>
          <a:prstGeom prst="line">
            <a:avLst/>
          </a:prstGeom>
          <a:noFill/>
          <a:ln w="25400">
            <a:solidFill>
              <a:srgbClr val="FBBF24"/>
            </a:solidFill>
            <a:prstDash val="solid"/>
            <a:tailEnd type="triangle"/>
          </a:ln>
        </p:spPr>
        <p:txBody>
          <a:bodyPr/>
          <a:lstStyle/>
          <a:p>
            <a:endParaRPr lang="en-US"/>
          </a:p>
        </p:txBody>
      </p:sp>
      <p:sp>
        <p:nvSpPr>
          <p:cNvPr id="25" name="Text 23"/>
          <p:cNvSpPr/>
          <p:nvPr/>
        </p:nvSpPr>
        <p:spPr>
          <a:xfrm>
            <a:off x="3218688" y="2891731"/>
            <a:ext cx="1874520" cy="1874520"/>
          </a:xfrm>
          <a:prstGeom prst="rect">
            <a:avLst/>
          </a:prstGeom>
          <a:solidFill>
            <a:srgbClr val="162032"/>
          </a:solidFill>
          <a:ln w="20320">
            <a:solidFill>
              <a:srgbClr val="22D3EE"/>
            </a:solidFill>
          </a:ln>
        </p:spPr>
        <p:txBody>
          <a:bodyPr wrap="square" lIns="1016" tIns="1016" rIns="1016" bIns="1016" rtlCol="0" anchor="ctr"/>
          <a:lstStyle/>
          <a:p>
            <a:pPr marL="0" indent="0" algn="ctr">
              <a:buNone/>
            </a:pPr>
            <a:r>
              <a:rPr lang="en-US" sz="2200" b="1" dirty="0">
                <a:solidFill>
                  <a:srgbClr val="FFFFFF"/>
                </a:solidFill>
              </a:rPr>
              <a:t>Systolic</a:t>
            </a:r>
            <a:endParaRPr lang="en-US" sz="2200" dirty="0"/>
          </a:p>
          <a:p>
            <a:pPr marL="0" indent="0" algn="ctr">
              <a:buNone/>
            </a:pPr>
            <a:r>
              <a:rPr lang="en-US" sz="2200" b="1" dirty="0">
                <a:solidFill>
                  <a:srgbClr val="FFFFFF"/>
                </a:solidFill>
              </a:rPr>
              <a:t>Array 2×2</a:t>
            </a:r>
            <a:endParaRPr lang="en-US" sz="2200" dirty="0"/>
          </a:p>
        </p:txBody>
      </p:sp>
      <p:sp>
        <p:nvSpPr>
          <p:cNvPr id="26" name="Shape 24"/>
          <p:cNvSpPr/>
          <p:nvPr/>
        </p:nvSpPr>
        <p:spPr>
          <a:xfrm>
            <a:off x="5168704" y="3805545"/>
            <a:ext cx="1143000" cy="0"/>
          </a:xfrm>
          <a:prstGeom prst="line">
            <a:avLst/>
          </a:prstGeom>
          <a:noFill/>
          <a:ln w="25400">
            <a:solidFill>
              <a:srgbClr val="34D399"/>
            </a:solidFill>
            <a:prstDash val="solid"/>
            <a:tailEnd type="triangle"/>
          </a:ln>
        </p:spPr>
        <p:txBody>
          <a:bodyPr/>
          <a:lstStyle/>
          <a:p>
            <a:endParaRPr lang="en-US"/>
          </a:p>
        </p:txBody>
      </p:sp>
      <p:sp>
        <p:nvSpPr>
          <p:cNvPr id="27" name="Text 25"/>
          <p:cNvSpPr/>
          <p:nvPr/>
        </p:nvSpPr>
        <p:spPr>
          <a:xfrm>
            <a:off x="6460352" y="3428531"/>
            <a:ext cx="1207008" cy="685800"/>
          </a:xfrm>
          <a:prstGeom prst="rect">
            <a:avLst/>
          </a:prstGeom>
          <a:solidFill>
            <a:srgbClr val="162032"/>
          </a:solidFill>
          <a:ln w="12700">
            <a:solidFill>
              <a:srgbClr val="22D3EE"/>
            </a:solidFill>
          </a:ln>
        </p:spPr>
        <p:txBody>
          <a:bodyPr wrap="square" lIns="254" tIns="254" rIns="254" bIns="254" rtlCol="0" anchor="ctr"/>
          <a:lstStyle/>
          <a:p>
            <a:pPr marL="0" indent="0" algn="ctr">
              <a:buNone/>
            </a:pPr>
            <a:r>
              <a:rPr lang="en-US" sz="1200" b="1" dirty="0">
                <a:solidFill>
                  <a:srgbClr val="FFFFFF"/>
                </a:solidFill>
              </a:rPr>
              <a:t>C</a:t>
            </a:r>
            <a:endParaRPr lang="en-US" sz="1200" dirty="0"/>
          </a:p>
        </p:txBody>
      </p:sp>
      <p:sp>
        <p:nvSpPr>
          <p:cNvPr id="28" name="Shape 26"/>
          <p:cNvSpPr/>
          <p:nvPr/>
        </p:nvSpPr>
        <p:spPr>
          <a:xfrm>
            <a:off x="6387200" y="3538259"/>
            <a:ext cx="54864" cy="45720"/>
          </a:xfrm>
          <a:prstGeom prst="rect">
            <a:avLst/>
          </a:prstGeom>
          <a:solidFill>
            <a:srgbClr val="22D3EE"/>
          </a:solidFill>
          <a:ln w="12700">
            <a:solidFill>
              <a:srgbClr val="22D3EE"/>
            </a:solidFill>
            <a:prstDash val="solid"/>
          </a:ln>
        </p:spPr>
        <p:txBody>
          <a:bodyPr/>
          <a:lstStyle/>
          <a:p>
            <a:endParaRPr lang="en-US"/>
          </a:p>
        </p:txBody>
      </p:sp>
      <p:sp>
        <p:nvSpPr>
          <p:cNvPr id="29" name="Shape 27"/>
          <p:cNvSpPr/>
          <p:nvPr/>
        </p:nvSpPr>
        <p:spPr>
          <a:xfrm>
            <a:off x="7685648" y="3538259"/>
            <a:ext cx="54864" cy="45720"/>
          </a:xfrm>
          <a:prstGeom prst="rect">
            <a:avLst/>
          </a:prstGeom>
          <a:solidFill>
            <a:srgbClr val="22D3EE"/>
          </a:solidFill>
          <a:ln w="12700">
            <a:solidFill>
              <a:srgbClr val="22D3EE"/>
            </a:solidFill>
            <a:prstDash val="solid"/>
          </a:ln>
        </p:spPr>
        <p:txBody>
          <a:bodyPr/>
          <a:lstStyle/>
          <a:p>
            <a:endParaRPr lang="en-US"/>
          </a:p>
        </p:txBody>
      </p:sp>
      <p:sp>
        <p:nvSpPr>
          <p:cNvPr id="30" name="Shape 28"/>
          <p:cNvSpPr/>
          <p:nvPr/>
        </p:nvSpPr>
        <p:spPr>
          <a:xfrm>
            <a:off x="6387200" y="3693707"/>
            <a:ext cx="54864" cy="45720"/>
          </a:xfrm>
          <a:prstGeom prst="rect">
            <a:avLst/>
          </a:prstGeom>
          <a:solidFill>
            <a:srgbClr val="22D3EE"/>
          </a:solidFill>
          <a:ln w="12700">
            <a:solidFill>
              <a:srgbClr val="22D3EE"/>
            </a:solidFill>
            <a:prstDash val="solid"/>
          </a:ln>
        </p:spPr>
        <p:txBody>
          <a:bodyPr/>
          <a:lstStyle/>
          <a:p>
            <a:endParaRPr lang="en-US"/>
          </a:p>
        </p:txBody>
      </p:sp>
      <p:sp>
        <p:nvSpPr>
          <p:cNvPr id="31" name="Shape 29"/>
          <p:cNvSpPr/>
          <p:nvPr/>
        </p:nvSpPr>
        <p:spPr>
          <a:xfrm>
            <a:off x="7685648" y="3693707"/>
            <a:ext cx="54864" cy="45720"/>
          </a:xfrm>
          <a:prstGeom prst="rect">
            <a:avLst/>
          </a:prstGeom>
          <a:solidFill>
            <a:srgbClr val="22D3EE"/>
          </a:solidFill>
          <a:ln w="12700">
            <a:solidFill>
              <a:srgbClr val="22D3EE"/>
            </a:solidFill>
            <a:prstDash val="solid"/>
          </a:ln>
        </p:spPr>
        <p:txBody>
          <a:bodyPr/>
          <a:lstStyle/>
          <a:p>
            <a:endParaRPr lang="en-US"/>
          </a:p>
        </p:txBody>
      </p:sp>
      <p:sp>
        <p:nvSpPr>
          <p:cNvPr id="32" name="Shape 30"/>
          <p:cNvSpPr/>
          <p:nvPr/>
        </p:nvSpPr>
        <p:spPr>
          <a:xfrm>
            <a:off x="6387200" y="3849155"/>
            <a:ext cx="54864" cy="45720"/>
          </a:xfrm>
          <a:prstGeom prst="rect">
            <a:avLst/>
          </a:prstGeom>
          <a:solidFill>
            <a:srgbClr val="22D3EE"/>
          </a:solidFill>
          <a:ln w="12700">
            <a:solidFill>
              <a:srgbClr val="22D3EE"/>
            </a:solidFill>
            <a:prstDash val="solid"/>
          </a:ln>
        </p:spPr>
        <p:txBody>
          <a:bodyPr/>
          <a:lstStyle/>
          <a:p>
            <a:endParaRPr lang="en-US"/>
          </a:p>
        </p:txBody>
      </p:sp>
      <p:sp>
        <p:nvSpPr>
          <p:cNvPr id="33" name="Shape 31"/>
          <p:cNvSpPr/>
          <p:nvPr/>
        </p:nvSpPr>
        <p:spPr>
          <a:xfrm>
            <a:off x="7685648" y="3849155"/>
            <a:ext cx="54864" cy="45720"/>
          </a:xfrm>
          <a:prstGeom prst="rect">
            <a:avLst/>
          </a:prstGeom>
          <a:solidFill>
            <a:srgbClr val="22D3EE"/>
          </a:solidFill>
          <a:ln w="12700">
            <a:solidFill>
              <a:srgbClr val="22D3EE"/>
            </a:solidFill>
            <a:prstDash val="solid"/>
          </a:ln>
        </p:spPr>
        <p:txBody>
          <a:bodyPr/>
          <a:lstStyle/>
          <a:p>
            <a:endParaRPr lang="en-US"/>
          </a:p>
        </p:txBody>
      </p:sp>
      <p:sp>
        <p:nvSpPr>
          <p:cNvPr id="34" name="Shape 32"/>
          <p:cNvSpPr/>
          <p:nvPr/>
        </p:nvSpPr>
        <p:spPr>
          <a:xfrm>
            <a:off x="6387200" y="4004603"/>
            <a:ext cx="54864" cy="45720"/>
          </a:xfrm>
          <a:prstGeom prst="rect">
            <a:avLst/>
          </a:prstGeom>
          <a:solidFill>
            <a:srgbClr val="22D3EE"/>
          </a:solidFill>
          <a:ln w="12700">
            <a:solidFill>
              <a:srgbClr val="22D3EE"/>
            </a:solidFill>
            <a:prstDash val="solid"/>
          </a:ln>
        </p:spPr>
        <p:txBody>
          <a:bodyPr/>
          <a:lstStyle/>
          <a:p>
            <a:endParaRPr lang="en-US"/>
          </a:p>
        </p:txBody>
      </p:sp>
      <p:sp>
        <p:nvSpPr>
          <p:cNvPr id="35" name="Shape 33"/>
          <p:cNvSpPr/>
          <p:nvPr/>
        </p:nvSpPr>
        <p:spPr>
          <a:xfrm>
            <a:off x="7685648" y="4004603"/>
            <a:ext cx="54864" cy="45720"/>
          </a:xfrm>
          <a:prstGeom prst="rect">
            <a:avLst/>
          </a:prstGeom>
          <a:solidFill>
            <a:srgbClr val="22D3EE"/>
          </a:solidFill>
          <a:ln w="12700">
            <a:solidFill>
              <a:srgbClr val="22D3EE"/>
            </a:solidFill>
            <a:prstDash val="solid"/>
          </a:ln>
        </p:spPr>
        <p:txBody>
          <a:bodyPr/>
          <a:lstStyle/>
          <a:p>
            <a:endParaRPr lang="en-US"/>
          </a:p>
        </p:txBody>
      </p:sp>
      <p:sp>
        <p:nvSpPr>
          <p:cNvPr id="36" name="Text 34"/>
          <p:cNvSpPr/>
          <p:nvPr/>
        </p:nvSpPr>
        <p:spPr>
          <a:xfrm>
            <a:off x="8229599" y="1417320"/>
            <a:ext cx="1641231" cy="274320"/>
          </a:xfrm>
          <a:prstGeom prst="rect">
            <a:avLst/>
          </a:prstGeom>
          <a:noFill/>
        </p:spPr>
        <p:txBody>
          <a:bodyPr wrap="square" lIns="0" tIns="0" rIns="0" bIns="0" rtlCol="0" anchor="ctr"/>
          <a:lstStyle/>
          <a:p>
            <a:pPr marL="0" indent="0">
              <a:buNone/>
            </a:pPr>
            <a:r>
              <a:rPr lang="en-US" sz="1400" b="1" dirty="0">
                <a:solidFill>
                  <a:srgbClr val="22D3EE"/>
                </a:solidFill>
              </a:rPr>
              <a:t>Parallel Processing</a:t>
            </a:r>
            <a:endParaRPr lang="en-US" sz="1400" dirty="0"/>
          </a:p>
        </p:txBody>
      </p:sp>
      <p:sp>
        <p:nvSpPr>
          <p:cNvPr id="37" name="Text 35"/>
          <p:cNvSpPr/>
          <p:nvPr/>
        </p:nvSpPr>
        <p:spPr>
          <a:xfrm>
            <a:off x="8229600" y="1709928"/>
            <a:ext cx="3370386" cy="585216"/>
          </a:xfrm>
          <a:prstGeom prst="rect">
            <a:avLst/>
          </a:prstGeom>
          <a:noFill/>
        </p:spPr>
        <p:txBody>
          <a:bodyPr wrap="square" lIns="0" tIns="0" rIns="0" bIns="0" rtlCol="0" anchor="ctr">
            <a:normAutofit lnSpcReduction="20000"/>
          </a:bodyPr>
          <a:lstStyle/>
          <a:p>
            <a:r>
              <a:rPr lang="en-US" sz="1400" dirty="0">
                <a:solidFill>
                  <a:schemeClr val="bg1"/>
                </a:solidFill>
              </a:rPr>
              <a:t>The four elements of matrix C can be computed concurrently instead of being calculated sequentially.</a:t>
            </a:r>
            <a:endParaRPr lang="en-US" sz="1200" dirty="0">
              <a:solidFill>
                <a:schemeClr val="bg1"/>
              </a:solidFill>
            </a:endParaRPr>
          </a:p>
        </p:txBody>
      </p:sp>
      <p:sp>
        <p:nvSpPr>
          <p:cNvPr id="38" name="Text 36"/>
          <p:cNvSpPr/>
          <p:nvPr/>
        </p:nvSpPr>
        <p:spPr>
          <a:xfrm>
            <a:off x="8229600" y="2313432"/>
            <a:ext cx="1325880" cy="274320"/>
          </a:xfrm>
          <a:prstGeom prst="rect">
            <a:avLst/>
          </a:prstGeom>
          <a:noFill/>
        </p:spPr>
        <p:txBody>
          <a:bodyPr wrap="square" lIns="0" tIns="0" rIns="0" bIns="0" rtlCol="0" anchor="ctr"/>
          <a:lstStyle/>
          <a:p>
            <a:pPr marL="0" indent="0">
              <a:buNone/>
            </a:pPr>
            <a:r>
              <a:rPr lang="en-US" sz="1400" b="1" dirty="0">
                <a:solidFill>
                  <a:srgbClr val="FBBF24"/>
                </a:solidFill>
              </a:rPr>
              <a:t>Pipelining</a:t>
            </a:r>
            <a:endParaRPr lang="en-US" sz="1400" dirty="0"/>
          </a:p>
        </p:txBody>
      </p:sp>
      <p:sp>
        <p:nvSpPr>
          <p:cNvPr id="39" name="Text 37"/>
          <p:cNvSpPr/>
          <p:nvPr/>
        </p:nvSpPr>
        <p:spPr>
          <a:xfrm>
            <a:off x="8229600" y="2606040"/>
            <a:ext cx="3392424" cy="573846"/>
          </a:xfrm>
          <a:prstGeom prst="rect">
            <a:avLst/>
          </a:prstGeom>
          <a:noFill/>
        </p:spPr>
        <p:txBody>
          <a:bodyPr wrap="square" lIns="0" tIns="0" rIns="0" bIns="0" rtlCol="0" anchor="ctr">
            <a:normAutofit fontScale="92500" lnSpcReduction="10000"/>
          </a:bodyPr>
          <a:lstStyle/>
          <a:p>
            <a:r>
              <a:rPr lang="en-US" sz="1400" dirty="0">
                <a:solidFill>
                  <a:schemeClr val="bg1"/>
                </a:solidFill>
              </a:rPr>
              <a:t>Matrix A data flows horizontally, while matrix B data flows vertically. Each processing element stores and updates its partial sum.</a:t>
            </a:r>
            <a:endParaRPr lang="en-US" sz="1250" dirty="0">
              <a:solidFill>
                <a:schemeClr val="bg1"/>
              </a:solidFill>
            </a:endParaRPr>
          </a:p>
        </p:txBody>
      </p:sp>
      <p:sp>
        <p:nvSpPr>
          <p:cNvPr id="40" name="Text 38"/>
          <p:cNvSpPr/>
          <p:nvPr/>
        </p:nvSpPr>
        <p:spPr>
          <a:xfrm>
            <a:off x="8229600" y="3209544"/>
            <a:ext cx="1325880" cy="274320"/>
          </a:xfrm>
          <a:prstGeom prst="rect">
            <a:avLst/>
          </a:prstGeom>
          <a:noFill/>
        </p:spPr>
        <p:txBody>
          <a:bodyPr wrap="square" lIns="0" tIns="0" rIns="0" bIns="0" rtlCol="0" anchor="ctr"/>
          <a:lstStyle/>
          <a:p>
            <a:pPr marL="0" indent="0">
              <a:buNone/>
            </a:pPr>
            <a:r>
              <a:rPr lang="en-US" sz="1400" b="1" dirty="0">
                <a:solidFill>
                  <a:srgbClr val="34D399"/>
                </a:solidFill>
              </a:rPr>
              <a:t>MAC Operation</a:t>
            </a:r>
            <a:endParaRPr lang="en-US" sz="1400" dirty="0"/>
          </a:p>
        </p:txBody>
      </p:sp>
      <p:sp>
        <p:nvSpPr>
          <p:cNvPr id="41" name="Text 39"/>
          <p:cNvSpPr/>
          <p:nvPr/>
        </p:nvSpPr>
        <p:spPr>
          <a:xfrm>
            <a:off x="8229600" y="3502151"/>
            <a:ext cx="3127248" cy="573845"/>
          </a:xfrm>
          <a:prstGeom prst="rect">
            <a:avLst/>
          </a:prstGeom>
          <a:noFill/>
        </p:spPr>
        <p:txBody>
          <a:bodyPr wrap="square" lIns="0" tIns="0" rIns="0" bIns="0" rtlCol="0" anchor="ctr">
            <a:noAutofit/>
          </a:bodyPr>
          <a:lstStyle/>
          <a:p>
            <a:r>
              <a:rPr lang="en-US" sz="1400" dirty="0">
                <a:solidFill>
                  <a:schemeClr val="bg1"/>
                </a:solidFill>
              </a:rPr>
              <a:t>Each processing element performs a Multiply–Accumulate operation:</a:t>
            </a:r>
            <a:endParaRPr lang="en-US" sz="1400" dirty="0">
              <a:solidFill>
                <a:schemeClr val="bg1"/>
              </a:solidFill>
            </a:endParaRPr>
          </a:p>
          <a:p>
            <a:pPr algn="ctr"/>
            <a:r>
              <a:rPr lang="en-US" sz="1400" dirty="0"/>
              <a:t>: </a:t>
            </a:r>
            <a:r>
              <a:rPr lang="en-US" sz="1400" dirty="0">
                <a:solidFill>
                  <a:srgbClr val="E5E7EB"/>
                </a:solidFill>
              </a:rPr>
              <a:t>acc &lt;= acc + A×B.</a:t>
            </a:r>
            <a:endParaRPr lang="en-US" sz="1400" dirty="0"/>
          </a:p>
        </p:txBody>
      </p:sp>
      <p:sp>
        <p:nvSpPr>
          <p:cNvPr id="42" name="Text 40"/>
          <p:cNvSpPr/>
          <p:nvPr/>
        </p:nvSpPr>
        <p:spPr>
          <a:xfrm>
            <a:off x="8229600" y="4105656"/>
            <a:ext cx="1641230" cy="274320"/>
          </a:xfrm>
          <a:prstGeom prst="rect">
            <a:avLst/>
          </a:prstGeom>
          <a:noFill/>
        </p:spPr>
        <p:txBody>
          <a:bodyPr wrap="square" lIns="0" tIns="0" rIns="0" bIns="0" rtlCol="0" anchor="ctr"/>
          <a:lstStyle/>
          <a:p>
            <a:pPr marL="0" indent="0">
              <a:buNone/>
            </a:pPr>
            <a:r>
              <a:rPr lang="en-US" sz="1400" b="1" dirty="0">
                <a:solidFill>
                  <a:srgbClr val="60A5FA"/>
                </a:solidFill>
              </a:rPr>
              <a:t>FPGA Resources</a:t>
            </a:r>
            <a:endParaRPr lang="en-US" sz="1400" dirty="0"/>
          </a:p>
        </p:txBody>
      </p:sp>
      <p:sp>
        <p:nvSpPr>
          <p:cNvPr id="43" name="Text 41"/>
          <p:cNvSpPr/>
          <p:nvPr/>
        </p:nvSpPr>
        <p:spPr>
          <a:xfrm>
            <a:off x="8229600" y="4398264"/>
            <a:ext cx="3447288" cy="660594"/>
          </a:xfrm>
          <a:prstGeom prst="rect">
            <a:avLst/>
          </a:prstGeom>
          <a:noFill/>
        </p:spPr>
        <p:txBody>
          <a:bodyPr wrap="square" lIns="0" tIns="0" rIns="0" bIns="0" rtlCol="0" anchor="ctr">
            <a:normAutofit/>
          </a:bodyPr>
          <a:lstStyle/>
          <a:p>
            <a:r>
              <a:rPr lang="en-US" sz="1400" dirty="0">
                <a:solidFill>
                  <a:schemeClr val="bg1"/>
                </a:solidFill>
              </a:rPr>
              <a:t>The Verilog design can be mapped onto FPGA resources such as LUTs, flip-flops, and DSP blocks during synthesis.</a:t>
            </a:r>
            <a:endParaRPr lang="en-US" sz="1400" dirty="0">
              <a:solidFill>
                <a:schemeClr val="bg1"/>
              </a:solidFill>
            </a:endParaRPr>
          </a:p>
        </p:txBody>
      </p:sp>
      <p:sp>
        <p:nvSpPr>
          <p:cNvPr id="44" name="Text 42"/>
          <p:cNvSpPr/>
          <p:nvPr/>
        </p:nvSpPr>
        <p:spPr>
          <a:xfrm>
            <a:off x="868680" y="5528251"/>
            <a:ext cx="10555458" cy="585216"/>
          </a:xfrm>
          <a:prstGeom prst="rect">
            <a:avLst/>
          </a:prstGeom>
          <a:noFill/>
        </p:spPr>
        <p:txBody>
          <a:bodyPr wrap="square" lIns="0" tIns="0" rIns="0" bIns="0" rtlCol="0" anchor="ctr"/>
          <a:lstStyle/>
          <a:p>
            <a:pPr algn="ctr"/>
            <a:r>
              <a:rPr lang="en-US" sz="1600" dirty="0">
                <a:solidFill>
                  <a:schemeClr val="bg1"/>
                </a:solidFill>
              </a:rPr>
              <a:t>Main idea: instead of using a CPU to execute each operation sequentially, the computation is distributed across multiple hardware processing elements operating synchronously.</a:t>
            </a:r>
            <a:endParaRPr lang="en-US" sz="1500" dirty="0">
              <a:solidFill>
                <a:schemeClr val="bg1"/>
              </a:solidFill>
            </a:endParaRPr>
          </a:p>
        </p:txBody>
      </p:sp>
      <p:sp>
        <p:nvSpPr>
          <p:cNvPr id="45" name="Text 43"/>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46" name="Text 44"/>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04</a:t>
            </a:r>
            <a:endParaRPr lang="en-US" sz="850" dirty="0"/>
          </a:p>
        </p:txBody>
      </p:sp>
      <p:pic>
        <p:nvPicPr>
          <p:cNvPr id="47" name="Picture 46"/>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rgbClr val="FFFFFF"/>
                </a:solidFill>
                <a:latin typeface="Aptos Display" pitchFamily="34" charset="0"/>
                <a:ea typeface="Aptos Display" pitchFamily="34" charset="-122"/>
                <a:cs typeface="Aptos Display" pitchFamily="34" charset="-120"/>
              </a:rPr>
              <a:t>3. </a:t>
            </a:r>
            <a:r>
              <a:rPr lang="en-US" sz="2800" b="1" dirty="0">
                <a:solidFill>
                  <a:schemeClr val="bg1"/>
                </a:solidFill>
              </a:rPr>
              <a:t>Number Representation and Bit Width</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The design supports signed numbers using two’s complement representation.</a:t>
            </a:r>
            <a:endParaRPr lang="en-US" sz="1200" dirty="0">
              <a:solidFill>
                <a:schemeClr val="bg1"/>
              </a:solidFill>
            </a:endParaRPr>
          </a:p>
        </p:txBody>
      </p:sp>
      <p:sp>
        <p:nvSpPr>
          <p:cNvPr id="5" name="Text 3"/>
          <p:cNvSpPr/>
          <p:nvPr/>
        </p:nvSpPr>
        <p:spPr>
          <a:xfrm>
            <a:off x="868680" y="1353312"/>
            <a:ext cx="2331720" cy="320040"/>
          </a:xfrm>
          <a:prstGeom prst="rect">
            <a:avLst/>
          </a:prstGeom>
          <a:noFill/>
        </p:spPr>
        <p:txBody>
          <a:bodyPr wrap="square" lIns="0" tIns="0" rIns="0" bIns="0" rtlCol="0" anchor="ctr"/>
          <a:lstStyle/>
          <a:p>
            <a:pPr marL="0" indent="0">
              <a:buNone/>
            </a:pPr>
            <a:r>
              <a:rPr lang="en-US" sz="2100" b="1" dirty="0">
                <a:solidFill>
                  <a:srgbClr val="22D3EE"/>
                </a:solidFill>
              </a:rPr>
              <a:t>Input 8-bit signed</a:t>
            </a:r>
            <a:endParaRPr lang="en-US" sz="2100" dirty="0"/>
          </a:p>
        </p:txBody>
      </p:sp>
      <p:sp>
        <p:nvSpPr>
          <p:cNvPr id="6" name="Text 4"/>
          <p:cNvSpPr/>
          <p:nvPr/>
        </p:nvSpPr>
        <p:spPr>
          <a:xfrm>
            <a:off x="868680" y="1828800"/>
            <a:ext cx="2971800" cy="658368"/>
          </a:xfrm>
          <a:prstGeom prst="rect">
            <a:avLst/>
          </a:prstGeom>
          <a:noFill/>
        </p:spPr>
        <p:txBody>
          <a:bodyPr wrap="square" lIns="381" tIns="381" rIns="381" bIns="381" rtlCol="0" anchor="ctr"/>
          <a:lstStyle/>
          <a:p>
            <a:pPr marL="0" indent="0">
              <a:buNone/>
            </a:pPr>
            <a:r>
              <a:rPr lang="en-US" sz="1500" dirty="0">
                <a:solidFill>
                  <a:srgbClr val="E5E7EB"/>
                </a:solidFill>
              </a:rPr>
              <a:t>Value range: −128 → +127</a:t>
            </a:r>
            <a:endParaRPr lang="en-US" sz="1500" dirty="0"/>
          </a:p>
          <a:p>
            <a:pPr marL="0" indent="0">
              <a:buNone/>
            </a:pPr>
            <a:r>
              <a:rPr lang="en-US" sz="1500" dirty="0">
                <a:solidFill>
                  <a:srgbClr val="E5E7EB"/>
                </a:solidFill>
              </a:rPr>
              <a:t>The MSB is the sign bit: 0 positive value, 1 negative values</a:t>
            </a:r>
            <a:endParaRPr lang="en-US" sz="1500" dirty="0"/>
          </a:p>
        </p:txBody>
      </p:sp>
      <p:sp>
        <p:nvSpPr>
          <p:cNvPr id="7" name="Text 5"/>
          <p:cNvSpPr/>
          <p:nvPr/>
        </p:nvSpPr>
        <p:spPr>
          <a:xfrm>
            <a:off x="4434840" y="1353312"/>
            <a:ext cx="1828800" cy="320040"/>
          </a:xfrm>
          <a:prstGeom prst="rect">
            <a:avLst/>
          </a:prstGeom>
          <a:noFill/>
        </p:spPr>
        <p:txBody>
          <a:bodyPr wrap="square" lIns="0" tIns="0" rIns="0" bIns="0" rtlCol="0" anchor="ctr"/>
          <a:lstStyle/>
          <a:p>
            <a:pPr marL="0" indent="0">
              <a:buNone/>
            </a:pPr>
            <a:r>
              <a:rPr lang="en-US" sz="2100" b="1" dirty="0">
                <a:solidFill>
                  <a:srgbClr val="FBBF24"/>
                </a:solidFill>
              </a:rPr>
              <a:t>Multiplication</a:t>
            </a:r>
            <a:endParaRPr lang="en-US" sz="2100" dirty="0"/>
          </a:p>
        </p:txBody>
      </p:sp>
      <p:sp>
        <p:nvSpPr>
          <p:cNvPr id="8" name="Text 6"/>
          <p:cNvSpPr/>
          <p:nvPr/>
        </p:nvSpPr>
        <p:spPr>
          <a:xfrm>
            <a:off x="4434840" y="1828800"/>
            <a:ext cx="2926080" cy="658368"/>
          </a:xfrm>
          <a:prstGeom prst="rect">
            <a:avLst/>
          </a:prstGeom>
          <a:noFill/>
        </p:spPr>
        <p:txBody>
          <a:bodyPr wrap="square" lIns="381" tIns="381" rIns="381" bIns="381" rtlCol="0" anchor="ctr">
            <a:normAutofit lnSpcReduction="10000"/>
          </a:bodyPr>
          <a:lstStyle/>
          <a:p>
            <a:pPr marL="0" indent="0">
              <a:buNone/>
            </a:pPr>
            <a:r>
              <a:rPr lang="en-US" sz="1500" dirty="0">
                <a:solidFill>
                  <a:srgbClr val="E5E7EB"/>
                </a:solidFill>
              </a:rPr>
              <a:t>8-bit × 8-bit ⇒ 16-bit</a:t>
            </a:r>
            <a:endParaRPr lang="en-US" sz="1500" dirty="0"/>
          </a:p>
          <a:p>
            <a:pPr marL="0" indent="0">
              <a:buNone/>
            </a:pPr>
            <a:r>
              <a:rPr lang="en-US" sz="1500" dirty="0">
                <a:solidFill>
                  <a:srgbClr val="E5E7EB"/>
                </a:solidFill>
              </a:rPr>
              <a:t>Worst-case example: </a:t>
            </a:r>
            <a:endParaRPr lang="en-US" sz="1500" dirty="0">
              <a:solidFill>
                <a:srgbClr val="E5E7EB"/>
              </a:solidFill>
            </a:endParaRPr>
          </a:p>
          <a:p>
            <a:pPr marL="0" indent="0">
              <a:buNone/>
            </a:pPr>
            <a:r>
              <a:rPr lang="en-US" sz="1500" dirty="0">
                <a:solidFill>
                  <a:srgbClr val="E5E7EB"/>
                </a:solidFill>
              </a:rPr>
              <a:t>−128 × −128 = 16384</a:t>
            </a:r>
            <a:endParaRPr lang="en-US" sz="1500" dirty="0"/>
          </a:p>
        </p:txBody>
      </p:sp>
      <p:sp>
        <p:nvSpPr>
          <p:cNvPr id="9" name="Text 7"/>
          <p:cNvSpPr/>
          <p:nvPr/>
        </p:nvSpPr>
        <p:spPr>
          <a:xfrm>
            <a:off x="8092440" y="1353312"/>
            <a:ext cx="1828800" cy="320040"/>
          </a:xfrm>
          <a:prstGeom prst="rect">
            <a:avLst/>
          </a:prstGeom>
          <a:noFill/>
        </p:spPr>
        <p:txBody>
          <a:bodyPr wrap="square" lIns="0" tIns="0" rIns="0" bIns="0" rtlCol="0" anchor="ctr"/>
          <a:lstStyle/>
          <a:p>
            <a:pPr marL="0" indent="0">
              <a:buNone/>
            </a:pPr>
            <a:r>
              <a:rPr lang="en-US" sz="2100" b="1" dirty="0">
                <a:solidFill>
                  <a:srgbClr val="34D399"/>
                </a:solidFill>
              </a:rPr>
              <a:t>Phép cộng</a:t>
            </a:r>
            <a:endParaRPr lang="en-US" sz="2100" dirty="0"/>
          </a:p>
        </p:txBody>
      </p:sp>
      <p:sp>
        <p:nvSpPr>
          <p:cNvPr id="10" name="Text 8"/>
          <p:cNvSpPr/>
          <p:nvPr/>
        </p:nvSpPr>
        <p:spPr>
          <a:xfrm>
            <a:off x="8092440" y="1828800"/>
            <a:ext cx="3063240" cy="658368"/>
          </a:xfrm>
          <a:prstGeom prst="rect">
            <a:avLst/>
          </a:prstGeom>
          <a:noFill/>
        </p:spPr>
        <p:txBody>
          <a:bodyPr wrap="square" lIns="381" tIns="381" rIns="381" bIns="381" rtlCol="0" anchor="ctr">
            <a:normAutofit lnSpcReduction="20000"/>
          </a:bodyPr>
          <a:lstStyle/>
          <a:p>
            <a:pPr marL="0" indent="0">
              <a:buNone/>
            </a:pPr>
            <a:r>
              <a:rPr lang="en-US" sz="1500" dirty="0">
                <a:solidFill>
                  <a:srgbClr val="E5E7EB"/>
                </a:solidFill>
              </a:rPr>
              <a:t>C[i][j] = product 1 + product 2</a:t>
            </a:r>
            <a:endParaRPr lang="en-US" sz="1500" dirty="0"/>
          </a:p>
          <a:p>
            <a:r>
              <a:rPr lang="en-US" sz="1600" dirty="0">
                <a:solidFill>
                  <a:schemeClr val="bg1"/>
                </a:solidFill>
              </a:rPr>
              <a:t>One additional guard bit is required </a:t>
            </a:r>
            <a:r>
              <a:rPr lang="en-US" sz="1500" dirty="0">
                <a:solidFill>
                  <a:srgbClr val="E5E7EB"/>
                </a:solidFill>
              </a:rPr>
              <a:t>⇒ 17-bit</a:t>
            </a:r>
            <a:endParaRPr lang="en-US" sz="1500" dirty="0"/>
          </a:p>
        </p:txBody>
      </p:sp>
      <p:sp>
        <p:nvSpPr>
          <p:cNvPr id="11" name="Shape 9"/>
          <p:cNvSpPr/>
          <p:nvPr/>
        </p:nvSpPr>
        <p:spPr>
          <a:xfrm>
            <a:off x="3886200" y="2084832"/>
            <a:ext cx="411480" cy="0"/>
          </a:xfrm>
          <a:prstGeom prst="line">
            <a:avLst/>
          </a:prstGeom>
          <a:noFill/>
          <a:ln w="25400">
            <a:solidFill>
              <a:srgbClr val="9CA3AF"/>
            </a:solidFill>
            <a:prstDash val="solid"/>
            <a:tailEnd type="triangle"/>
          </a:ln>
        </p:spPr>
        <p:txBody>
          <a:bodyPr/>
          <a:lstStyle/>
          <a:p>
            <a:endParaRPr lang="en-US"/>
          </a:p>
        </p:txBody>
      </p:sp>
      <p:sp>
        <p:nvSpPr>
          <p:cNvPr id="12" name="Shape 10"/>
          <p:cNvSpPr/>
          <p:nvPr/>
        </p:nvSpPr>
        <p:spPr>
          <a:xfrm>
            <a:off x="7004538" y="2084832"/>
            <a:ext cx="411480" cy="0"/>
          </a:xfrm>
          <a:prstGeom prst="line">
            <a:avLst/>
          </a:prstGeom>
          <a:noFill/>
          <a:ln w="25400">
            <a:solidFill>
              <a:srgbClr val="9CA3AF"/>
            </a:solidFill>
            <a:prstDash val="solid"/>
            <a:tailEnd type="triangle"/>
          </a:ln>
        </p:spPr>
        <p:txBody>
          <a:bodyPr/>
          <a:lstStyle/>
          <a:p>
            <a:endParaRPr lang="en-US"/>
          </a:p>
        </p:txBody>
      </p:sp>
      <p:sp>
        <p:nvSpPr>
          <p:cNvPr id="13" name="Text 11"/>
          <p:cNvSpPr/>
          <p:nvPr/>
        </p:nvSpPr>
        <p:spPr>
          <a:xfrm>
            <a:off x="914400" y="3154680"/>
            <a:ext cx="3909646" cy="310896"/>
          </a:xfrm>
          <a:prstGeom prst="rect">
            <a:avLst/>
          </a:prstGeom>
          <a:noFill/>
        </p:spPr>
        <p:txBody>
          <a:bodyPr wrap="square" lIns="0" tIns="0" rIns="0" bIns="0" rtlCol="0" anchor="ctr"/>
          <a:lstStyle/>
          <a:p>
            <a:r>
              <a:rPr lang="en-US" dirty="0">
                <a:solidFill>
                  <a:schemeClr val="bg1"/>
                </a:solidFill>
              </a:rPr>
              <a:t>Recommended Verilog Declarations</a:t>
            </a:r>
            <a:endParaRPr lang="en-US" sz="1800" dirty="0">
              <a:solidFill>
                <a:schemeClr val="bg1"/>
              </a:solidFill>
            </a:endParaRPr>
          </a:p>
        </p:txBody>
      </p:sp>
      <p:sp>
        <p:nvSpPr>
          <p:cNvPr id="14" name="Text 12"/>
          <p:cNvSpPr/>
          <p:nvPr/>
        </p:nvSpPr>
        <p:spPr>
          <a:xfrm>
            <a:off x="777240" y="3611880"/>
            <a:ext cx="4779498" cy="969259"/>
          </a:xfrm>
          <a:prstGeom prst="rect">
            <a:avLst/>
          </a:prstGeom>
          <a:solidFill>
            <a:srgbClr val="0F172A"/>
          </a:solidFill>
          <a:ln>
            <a:solidFill>
              <a:srgbClr val="334155"/>
            </a:solidFill>
          </a:ln>
        </p:spPr>
        <p:txBody>
          <a:bodyPr wrap="square" lIns="1524" tIns="1524" rIns="1524" bIns="1524" rtlCol="0" anchor="ctr">
            <a:normAutofit/>
          </a:bodyPr>
          <a:lstStyle/>
          <a:p>
            <a:pPr marL="0" indent="0">
              <a:buNone/>
            </a:pPr>
            <a:r>
              <a:rPr lang="en-US" sz="1600" dirty="0">
                <a:solidFill>
                  <a:srgbClr val="FFFFFF"/>
                </a:solidFill>
                <a:latin typeface="Consolas" panose="020B0609020204030204" pitchFamily="34" charset="0"/>
                <a:ea typeface="Consolas" panose="020B0609020204030204" pitchFamily="34" charset="-122"/>
                <a:cs typeface="Consolas" panose="020B0609020204030204" pitchFamily="34" charset="-120"/>
              </a:rPr>
              <a:t>input  signed [7:0]  a00, a01, ...;</a:t>
            </a:r>
            <a:endParaRPr lang="en-US" sz="1600" dirty="0"/>
          </a:p>
          <a:p>
            <a:pPr marL="0" indent="0">
              <a:buNone/>
            </a:pPr>
            <a:r>
              <a:rPr lang="en-US" sz="1600" dirty="0">
                <a:solidFill>
                  <a:srgbClr val="FFFFFF"/>
                </a:solidFill>
                <a:latin typeface="Consolas" panose="020B0609020204030204" pitchFamily="34" charset="0"/>
                <a:ea typeface="Consolas" panose="020B0609020204030204" pitchFamily="34" charset="-122"/>
                <a:cs typeface="Consolas" panose="020B0609020204030204" pitchFamily="34" charset="-120"/>
              </a:rPr>
              <a:t>wire   signed [15:0] p0, p1;</a:t>
            </a:r>
            <a:endParaRPr lang="en-US" sz="1600" dirty="0"/>
          </a:p>
          <a:p>
            <a:pPr marL="0" indent="0">
              <a:buNone/>
            </a:pPr>
            <a:r>
              <a:rPr lang="en-US" sz="1600" dirty="0">
                <a:solidFill>
                  <a:srgbClr val="FFFFFF"/>
                </a:solidFill>
                <a:latin typeface="Consolas" panose="020B0609020204030204" pitchFamily="34" charset="0"/>
                <a:ea typeface="Consolas" panose="020B0609020204030204" pitchFamily="34" charset="-122"/>
                <a:cs typeface="Consolas" panose="020B0609020204030204" pitchFamily="34" charset="-120"/>
              </a:rPr>
              <a:t>output signed [16:0] c00, c01, c10, c11;</a:t>
            </a:r>
            <a:endParaRPr lang="en-US" sz="1600" dirty="0"/>
          </a:p>
        </p:txBody>
      </p:sp>
      <p:sp>
        <p:nvSpPr>
          <p:cNvPr id="15" name="Text 13"/>
          <p:cNvSpPr/>
          <p:nvPr/>
        </p:nvSpPr>
        <p:spPr>
          <a:xfrm>
            <a:off x="7315200" y="3154680"/>
            <a:ext cx="2356338" cy="310896"/>
          </a:xfrm>
          <a:prstGeom prst="rect">
            <a:avLst/>
          </a:prstGeom>
          <a:noFill/>
        </p:spPr>
        <p:txBody>
          <a:bodyPr wrap="square" lIns="0" tIns="0" rIns="0" bIns="0" rtlCol="0" anchor="ctr"/>
          <a:lstStyle/>
          <a:p>
            <a:r>
              <a:rPr lang="en-US" dirty="0">
                <a:solidFill>
                  <a:schemeClr val="bg1"/>
                </a:solidFill>
              </a:rPr>
              <a:t>Coding Considerations</a:t>
            </a:r>
            <a:endParaRPr lang="en-US" sz="1800" dirty="0">
              <a:solidFill>
                <a:schemeClr val="bg1"/>
              </a:solidFill>
            </a:endParaRPr>
          </a:p>
        </p:txBody>
      </p:sp>
      <p:sp>
        <p:nvSpPr>
          <p:cNvPr id="16" name="Text 14"/>
          <p:cNvSpPr/>
          <p:nvPr/>
        </p:nvSpPr>
        <p:spPr>
          <a:xfrm>
            <a:off x="7315200" y="3611880"/>
            <a:ext cx="3628292" cy="1344168"/>
          </a:xfrm>
          <a:prstGeom prst="rect">
            <a:avLst/>
          </a:prstGeom>
          <a:solidFill>
            <a:srgbClr val="1F2937">
              <a:alpha val="92000"/>
            </a:srgbClr>
          </a:solidFill>
          <a:ln>
            <a:solidFill>
              <a:srgbClr val="334155">
                <a:alpha val="70000"/>
              </a:srgbClr>
            </a:solidFill>
          </a:ln>
        </p:spPr>
        <p:txBody>
          <a:bodyPr wrap="square" lIns="1270" tIns="1270" rIns="1270" bIns="1270" rtlCol="0" anchor="ctr"/>
          <a:lstStyle/>
          <a:p>
            <a:pPr marL="285750" indent="-285750">
              <a:buFont typeface="Arial" panose="020B0604020202020204" pitchFamily="34" charset="0"/>
              <a:buChar char="•"/>
            </a:pPr>
            <a:r>
              <a:rPr lang="en-US" sz="1600" dirty="0">
                <a:solidFill>
                  <a:schemeClr val="bg1"/>
                </a:solidFill>
              </a:rPr>
              <a:t>Explicitly declare signals as </a:t>
            </a:r>
            <a:r>
              <a:rPr lang="en-US" dirty="0">
                <a:solidFill>
                  <a:schemeClr val="bg1"/>
                </a:solidFill>
              </a:rPr>
              <a:t>signed</a:t>
            </a:r>
            <a:endParaRPr lang="en-US" dirty="0">
              <a:solidFill>
                <a:schemeClr val="bg1"/>
              </a:solidFill>
            </a:endParaRPr>
          </a:p>
          <a:p>
            <a:pPr marL="285750" indent="-285750">
              <a:buFont typeface="Arial" panose="020B0604020202020204" pitchFamily="34" charset="0"/>
              <a:buChar char="•"/>
            </a:pPr>
            <a:r>
              <a:rPr lang="en-US" sz="1600" dirty="0">
                <a:solidFill>
                  <a:schemeClr val="bg1"/>
                </a:solidFill>
              </a:rPr>
              <a:t>Perform sign extension before addition </a:t>
            </a: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Use a 17-bit output to prevent overflow</a:t>
            </a:r>
            <a:endParaRPr lang="en-US" sz="1500" dirty="0">
              <a:solidFill>
                <a:schemeClr val="bg1"/>
              </a:solidFill>
            </a:endParaRPr>
          </a:p>
        </p:txBody>
      </p:sp>
      <p:sp>
        <p:nvSpPr>
          <p:cNvPr id="17" name="Text 15"/>
          <p:cNvSpPr/>
          <p:nvPr/>
        </p:nvSpPr>
        <p:spPr>
          <a:xfrm>
            <a:off x="914400" y="5559552"/>
            <a:ext cx="10332720" cy="365760"/>
          </a:xfrm>
          <a:prstGeom prst="rect">
            <a:avLst/>
          </a:prstGeom>
          <a:noFill/>
        </p:spPr>
        <p:txBody>
          <a:bodyPr wrap="square" lIns="0" tIns="0" rIns="0" bIns="0" rtlCol="0" anchor="ctr"/>
          <a:lstStyle/>
          <a:p>
            <a:pPr marL="0" indent="0" algn="ctr">
              <a:buNone/>
            </a:pPr>
            <a:r>
              <a:rPr lang="en-US" sz="1500" dirty="0">
                <a:solidFill>
                  <a:srgbClr val="E5E7EB"/>
                </a:solidFill>
              </a:rPr>
              <a:t>Kết quả trong báo cáo nên ghi rõ: input 8-bit signed, tích 16-bit, tổng 17-bit.</a:t>
            </a:r>
            <a:endParaRPr lang="en-US" sz="1500" dirty="0"/>
          </a:p>
        </p:txBody>
      </p:sp>
      <p:sp>
        <p:nvSpPr>
          <p:cNvPr id="18" name="Text 16"/>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19" name="Text 17"/>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05</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rgbClr val="FFFFFF"/>
                </a:solidFill>
                <a:latin typeface="Aptos Display" pitchFamily="34" charset="0"/>
                <a:ea typeface="Aptos Display" pitchFamily="34" charset="-122"/>
                <a:cs typeface="Aptos Display" pitchFamily="34" charset="-120"/>
              </a:rPr>
              <a:t>4. </a:t>
            </a:r>
            <a:r>
              <a:rPr lang="en-US" sz="2800" b="1" dirty="0">
                <a:solidFill>
                  <a:schemeClr val="bg1"/>
                </a:solidFill>
              </a:rPr>
              <a:t>Overall System Architecture</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Main blocks: input registers, PE/MAC array, control unit, and output registers</a:t>
            </a:r>
            <a:endParaRPr lang="en-US" sz="1200" dirty="0">
              <a:solidFill>
                <a:schemeClr val="bg1"/>
              </a:solidFill>
            </a:endParaRPr>
          </a:p>
        </p:txBody>
      </p:sp>
      <p:sp>
        <p:nvSpPr>
          <p:cNvPr id="5" name="Shape 3"/>
          <p:cNvSpPr/>
          <p:nvPr/>
        </p:nvSpPr>
        <p:spPr>
          <a:xfrm>
            <a:off x="1417320" y="1920240"/>
            <a:ext cx="1051560" cy="0"/>
          </a:xfrm>
          <a:prstGeom prst="line">
            <a:avLst/>
          </a:prstGeom>
          <a:noFill/>
          <a:ln w="25400">
            <a:solidFill>
              <a:srgbClr val="22D3EE"/>
            </a:solidFill>
            <a:prstDash val="solid"/>
            <a:tailEnd type="triangle"/>
          </a:ln>
        </p:spPr>
        <p:txBody>
          <a:bodyPr/>
          <a:lstStyle/>
          <a:p>
            <a:endParaRPr lang="en-US"/>
          </a:p>
        </p:txBody>
      </p:sp>
      <p:sp>
        <p:nvSpPr>
          <p:cNvPr id="6" name="Shape 4"/>
          <p:cNvSpPr/>
          <p:nvPr/>
        </p:nvSpPr>
        <p:spPr>
          <a:xfrm>
            <a:off x="1417320" y="3520440"/>
            <a:ext cx="1051560" cy="0"/>
          </a:xfrm>
          <a:prstGeom prst="line">
            <a:avLst/>
          </a:prstGeom>
          <a:noFill/>
          <a:ln w="25400">
            <a:solidFill>
              <a:srgbClr val="FBBF24"/>
            </a:solidFill>
            <a:prstDash val="solid"/>
            <a:tailEnd type="triangle"/>
          </a:ln>
        </p:spPr>
        <p:txBody>
          <a:bodyPr/>
          <a:lstStyle/>
          <a:p>
            <a:endParaRPr lang="en-US"/>
          </a:p>
        </p:txBody>
      </p:sp>
      <p:sp>
        <p:nvSpPr>
          <p:cNvPr id="7" name="Shape 5"/>
          <p:cNvSpPr/>
          <p:nvPr/>
        </p:nvSpPr>
        <p:spPr>
          <a:xfrm>
            <a:off x="4572000" y="2743200"/>
            <a:ext cx="1051560" cy="0"/>
          </a:xfrm>
          <a:prstGeom prst="line">
            <a:avLst/>
          </a:prstGeom>
          <a:noFill/>
          <a:ln w="25400">
            <a:solidFill>
              <a:srgbClr val="34D399"/>
            </a:solidFill>
            <a:prstDash val="solid"/>
            <a:tailEnd type="triangle"/>
          </a:ln>
        </p:spPr>
        <p:txBody>
          <a:bodyPr/>
          <a:lstStyle/>
          <a:p>
            <a:endParaRPr lang="en-US"/>
          </a:p>
        </p:txBody>
      </p:sp>
      <p:sp>
        <p:nvSpPr>
          <p:cNvPr id="8" name="Shape 6"/>
          <p:cNvSpPr/>
          <p:nvPr/>
        </p:nvSpPr>
        <p:spPr>
          <a:xfrm>
            <a:off x="6995160" y="2743200"/>
            <a:ext cx="1005840" cy="0"/>
          </a:xfrm>
          <a:prstGeom prst="line">
            <a:avLst/>
          </a:prstGeom>
          <a:noFill/>
          <a:ln w="25400">
            <a:solidFill>
              <a:srgbClr val="34D399"/>
            </a:solidFill>
            <a:prstDash val="solid"/>
            <a:tailEnd type="triangle"/>
          </a:ln>
        </p:spPr>
        <p:txBody>
          <a:bodyPr/>
          <a:lstStyle/>
          <a:p>
            <a:endParaRPr lang="en-US"/>
          </a:p>
        </p:txBody>
      </p:sp>
      <p:sp>
        <p:nvSpPr>
          <p:cNvPr id="9" name="Text 7"/>
          <p:cNvSpPr/>
          <p:nvPr/>
        </p:nvSpPr>
        <p:spPr>
          <a:xfrm>
            <a:off x="502920" y="1481328"/>
            <a:ext cx="1691640" cy="868680"/>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400" b="1" dirty="0">
                <a:solidFill>
                  <a:srgbClr val="FFFFFF"/>
                </a:solidFill>
              </a:rPr>
              <a:t>A registers</a:t>
            </a:r>
            <a:endParaRPr lang="en-US" sz="1400" dirty="0"/>
          </a:p>
          <a:p>
            <a:pPr marL="0" indent="0" algn="ctr">
              <a:buNone/>
            </a:pPr>
            <a:r>
              <a:rPr lang="en-US" sz="1400" b="1" dirty="0">
                <a:solidFill>
                  <a:srgbClr val="FFFFFF"/>
                </a:solidFill>
              </a:rPr>
              <a:t>a00 a01 a10 a11</a:t>
            </a:r>
            <a:endParaRPr lang="en-US" sz="1400" dirty="0"/>
          </a:p>
        </p:txBody>
      </p:sp>
      <p:sp>
        <p:nvSpPr>
          <p:cNvPr id="10" name="Text 8"/>
          <p:cNvSpPr/>
          <p:nvPr/>
        </p:nvSpPr>
        <p:spPr>
          <a:xfrm>
            <a:off x="502920" y="3081528"/>
            <a:ext cx="1691640" cy="868680"/>
          </a:xfrm>
          <a:prstGeom prst="rect">
            <a:avLst/>
          </a:prstGeom>
          <a:solidFill>
            <a:srgbClr val="162032"/>
          </a:solidFill>
          <a:ln>
            <a:solidFill>
              <a:srgbClr val="FBBF24"/>
            </a:solidFill>
          </a:ln>
        </p:spPr>
        <p:txBody>
          <a:bodyPr wrap="square" lIns="508" tIns="508" rIns="508" bIns="508" rtlCol="0" anchor="ctr"/>
          <a:lstStyle/>
          <a:p>
            <a:pPr marL="0" indent="0" algn="ctr">
              <a:buNone/>
            </a:pPr>
            <a:r>
              <a:rPr lang="en-US" sz="1400" b="1" dirty="0">
                <a:solidFill>
                  <a:srgbClr val="FFFFFF"/>
                </a:solidFill>
              </a:rPr>
              <a:t>B registers</a:t>
            </a:r>
            <a:endParaRPr lang="en-US" sz="1400" dirty="0"/>
          </a:p>
          <a:p>
            <a:pPr marL="0" indent="0" algn="ctr">
              <a:buNone/>
            </a:pPr>
            <a:r>
              <a:rPr lang="en-US" sz="1400" b="1" dirty="0">
                <a:solidFill>
                  <a:srgbClr val="FFFFFF"/>
                </a:solidFill>
              </a:rPr>
              <a:t>b00 b01 b10 b11</a:t>
            </a:r>
            <a:endParaRPr lang="en-US" sz="1400" dirty="0"/>
          </a:p>
        </p:txBody>
      </p:sp>
      <p:sp>
        <p:nvSpPr>
          <p:cNvPr id="11" name="Text 9"/>
          <p:cNvSpPr/>
          <p:nvPr/>
        </p:nvSpPr>
        <p:spPr>
          <a:xfrm>
            <a:off x="2606040" y="1463040"/>
            <a:ext cx="1828800" cy="822960"/>
          </a:xfrm>
          <a:prstGeom prst="rect">
            <a:avLst/>
          </a:prstGeom>
          <a:solidFill>
            <a:srgbClr val="1F2937"/>
          </a:solidFill>
          <a:ln>
            <a:solidFill>
              <a:srgbClr val="60A5FA"/>
            </a:solidFill>
          </a:ln>
        </p:spPr>
        <p:txBody>
          <a:bodyPr wrap="square" lIns="508" tIns="508" rIns="508" bIns="508" rtlCol="0" anchor="ctr">
            <a:normAutofit/>
          </a:bodyPr>
          <a:lstStyle/>
          <a:p>
            <a:pPr marL="0" indent="0" algn="ctr">
              <a:buNone/>
            </a:pPr>
            <a:r>
              <a:rPr lang="en-US" sz="1300" b="1" dirty="0">
                <a:solidFill>
                  <a:srgbClr val="FFFFFF"/>
                </a:solidFill>
              </a:rPr>
              <a:t>Control FSM</a:t>
            </a:r>
            <a:endParaRPr lang="en-US" sz="1300" dirty="0"/>
          </a:p>
          <a:p>
            <a:pPr marL="0" indent="0" algn="ctr">
              <a:buNone/>
            </a:pPr>
            <a:r>
              <a:rPr lang="en-US" sz="1300" b="1" dirty="0">
                <a:solidFill>
                  <a:srgbClr val="FFFFFF"/>
                </a:solidFill>
              </a:rPr>
              <a:t>IDLE → LOAD → CALC → DONE</a:t>
            </a:r>
            <a:endParaRPr lang="en-US" sz="1300" dirty="0"/>
          </a:p>
        </p:txBody>
      </p:sp>
      <p:sp>
        <p:nvSpPr>
          <p:cNvPr id="12" name="Text 10"/>
          <p:cNvSpPr/>
          <p:nvPr/>
        </p:nvSpPr>
        <p:spPr>
          <a:xfrm>
            <a:off x="2606040" y="2971800"/>
            <a:ext cx="1828800" cy="960120"/>
          </a:xfrm>
          <a:prstGeom prst="rect">
            <a:avLst/>
          </a:prstGeom>
          <a:solidFill>
            <a:srgbClr val="0F172A"/>
          </a:solidFill>
          <a:ln w="15240">
            <a:solidFill>
              <a:srgbClr val="22D3EE"/>
            </a:solidFill>
          </a:ln>
        </p:spPr>
        <p:txBody>
          <a:bodyPr wrap="square" lIns="762" tIns="762" rIns="762" bIns="762" rtlCol="0" anchor="ctr"/>
          <a:lstStyle/>
          <a:p>
            <a:pPr marL="0" indent="0" algn="ctr">
              <a:buNone/>
            </a:pPr>
            <a:r>
              <a:rPr lang="en-US" sz="1700" b="1" dirty="0">
                <a:solidFill>
                  <a:srgbClr val="FFFFFF"/>
                </a:solidFill>
              </a:rPr>
              <a:t>PE array 2×2</a:t>
            </a:r>
            <a:endParaRPr lang="en-US" sz="1700" dirty="0"/>
          </a:p>
          <a:p>
            <a:pPr marL="0" indent="0" algn="ctr">
              <a:buNone/>
            </a:pPr>
            <a:r>
              <a:rPr lang="en-US" sz="1700" b="1" dirty="0">
                <a:solidFill>
                  <a:srgbClr val="FFFFFF"/>
                </a:solidFill>
              </a:rPr>
              <a:t>4 MAC cells</a:t>
            </a:r>
            <a:endParaRPr lang="en-US" sz="1700" dirty="0"/>
          </a:p>
        </p:txBody>
      </p:sp>
      <p:sp>
        <p:nvSpPr>
          <p:cNvPr id="13" name="Text 11"/>
          <p:cNvSpPr/>
          <p:nvPr/>
        </p:nvSpPr>
        <p:spPr>
          <a:xfrm>
            <a:off x="5760720" y="2286000"/>
            <a:ext cx="1463040" cy="868680"/>
          </a:xfrm>
          <a:prstGeom prst="rect">
            <a:avLst/>
          </a:prstGeom>
          <a:solidFill>
            <a:srgbClr val="162032"/>
          </a:solidFill>
          <a:ln>
            <a:solidFill>
              <a:srgbClr val="34D399"/>
            </a:solidFill>
          </a:ln>
        </p:spPr>
        <p:txBody>
          <a:bodyPr wrap="square" lIns="508" tIns="508" rIns="508" bIns="508" rtlCol="0" anchor="ctr"/>
          <a:lstStyle/>
          <a:p>
            <a:pPr marL="0" indent="0" algn="ctr">
              <a:buNone/>
            </a:pPr>
            <a:r>
              <a:rPr lang="en-US" sz="1400" b="1" dirty="0">
                <a:solidFill>
                  <a:srgbClr val="FFFFFF"/>
                </a:solidFill>
              </a:rPr>
              <a:t>Output registers</a:t>
            </a:r>
            <a:endParaRPr lang="en-US" sz="1400" dirty="0"/>
          </a:p>
          <a:p>
            <a:pPr marL="0" indent="0" algn="ctr">
              <a:buNone/>
            </a:pPr>
            <a:r>
              <a:rPr lang="en-US" sz="1400" b="1" dirty="0">
                <a:solidFill>
                  <a:srgbClr val="FFFFFF"/>
                </a:solidFill>
              </a:rPr>
              <a:t>c00 c01 c10 c11</a:t>
            </a:r>
            <a:endParaRPr lang="en-US" sz="1400" dirty="0"/>
          </a:p>
        </p:txBody>
      </p:sp>
      <p:sp>
        <p:nvSpPr>
          <p:cNvPr id="14" name="Text 12"/>
          <p:cNvSpPr/>
          <p:nvPr/>
        </p:nvSpPr>
        <p:spPr>
          <a:xfrm>
            <a:off x="8275320" y="2286000"/>
            <a:ext cx="1965960" cy="868680"/>
          </a:xfrm>
          <a:prstGeom prst="rect">
            <a:avLst/>
          </a:prstGeom>
          <a:solidFill>
            <a:srgbClr val="1F2937"/>
          </a:solidFill>
          <a:ln>
            <a:solidFill>
              <a:srgbClr val="34D399"/>
            </a:solidFill>
          </a:ln>
        </p:spPr>
        <p:txBody>
          <a:bodyPr wrap="square" lIns="508" tIns="508" rIns="508" bIns="508" rtlCol="0" anchor="ctr"/>
          <a:lstStyle/>
          <a:p>
            <a:pPr marL="0" indent="0" algn="ctr">
              <a:buNone/>
            </a:pPr>
            <a:r>
              <a:rPr lang="en-US" sz="1400" b="1" dirty="0">
                <a:solidFill>
                  <a:srgbClr val="FFFFFF"/>
                </a:solidFill>
              </a:rPr>
              <a:t>done / valid</a:t>
            </a:r>
            <a:endParaRPr lang="en-US" sz="1400" dirty="0"/>
          </a:p>
          <a:p>
            <a:pPr marL="0" indent="0" algn="ctr">
              <a:buNone/>
            </a:pPr>
            <a:r>
              <a:rPr lang="en-US" sz="1400" b="1" dirty="0">
                <a:solidFill>
                  <a:srgbClr val="FFFFFF"/>
                </a:solidFill>
              </a:rPr>
              <a:t>ready for testbench</a:t>
            </a:r>
            <a:endParaRPr lang="en-US" sz="1400" dirty="0"/>
          </a:p>
        </p:txBody>
      </p:sp>
      <p:sp>
        <p:nvSpPr>
          <p:cNvPr id="15" name="Text 13"/>
          <p:cNvSpPr/>
          <p:nvPr/>
        </p:nvSpPr>
        <p:spPr>
          <a:xfrm>
            <a:off x="960120" y="4892040"/>
            <a:ext cx="2103120" cy="228600"/>
          </a:xfrm>
          <a:prstGeom prst="rect">
            <a:avLst/>
          </a:prstGeom>
          <a:noFill/>
        </p:spPr>
        <p:txBody>
          <a:bodyPr wrap="square" lIns="0" tIns="0" rIns="0" bIns="0" rtlCol="0" anchor="ctr"/>
          <a:lstStyle/>
          <a:p>
            <a:pPr marL="0" indent="0">
              <a:buNone/>
            </a:pPr>
            <a:r>
              <a:rPr lang="en-US" sz="1200" dirty="0">
                <a:solidFill>
                  <a:srgbClr val="9CA3AF"/>
                </a:solidFill>
              </a:rPr>
              <a:t>PE = Processing Element</a:t>
            </a:r>
            <a:endParaRPr lang="en-US" sz="1200" dirty="0"/>
          </a:p>
        </p:txBody>
      </p:sp>
      <p:sp>
        <p:nvSpPr>
          <p:cNvPr id="16" name="Text 14"/>
          <p:cNvSpPr/>
          <p:nvPr/>
        </p:nvSpPr>
        <p:spPr>
          <a:xfrm>
            <a:off x="960120" y="5212079"/>
            <a:ext cx="9913034" cy="749807"/>
          </a:xfrm>
          <a:prstGeom prst="rect">
            <a:avLst/>
          </a:prstGeom>
          <a:solidFill>
            <a:srgbClr val="1F2937">
              <a:alpha val="92000"/>
            </a:srgbClr>
          </a:solidFill>
          <a:ln>
            <a:solidFill>
              <a:srgbClr val="334155">
                <a:alpha val="60000"/>
              </a:srgbClr>
            </a:solidFill>
          </a:ln>
        </p:spPr>
        <p:txBody>
          <a:bodyPr wrap="square" lIns="508" tIns="508" rIns="508" bIns="508" rtlCol="0" anchor="ctr"/>
          <a:lstStyle/>
          <a:p>
            <a:pPr algn="ctr"/>
            <a:r>
              <a:rPr lang="en-US" sz="1600" dirty="0">
                <a:solidFill>
                  <a:schemeClr val="bg1"/>
                </a:solidFill>
              </a:rPr>
              <a:t>Each PE receives A and B values on every clock cycle, multiplies them, and accumulates the partial products to generate C[</a:t>
            </a:r>
            <a:r>
              <a:rPr lang="en-US" sz="1600" dirty="0" err="1">
                <a:solidFill>
                  <a:schemeClr val="bg1"/>
                </a:solidFill>
              </a:rPr>
              <a:t>i</a:t>
            </a:r>
            <a:r>
              <a:rPr lang="en-US" sz="1600" dirty="0">
                <a:solidFill>
                  <a:schemeClr val="bg1"/>
                </a:solidFill>
              </a:rPr>
              <a:t>][j].</a:t>
            </a:r>
            <a:endParaRPr lang="en-US" sz="1600" dirty="0">
              <a:solidFill>
                <a:schemeClr val="bg1"/>
              </a:solidFill>
            </a:endParaRPr>
          </a:p>
        </p:txBody>
      </p:sp>
      <p:sp>
        <p:nvSpPr>
          <p:cNvPr id="17" name="Text 15"/>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18" name="Text 16"/>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06</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chemeClr val="bg1"/>
                </a:solidFill>
                <a:latin typeface="Aptos Display" pitchFamily="34" charset="0"/>
                <a:ea typeface="Aptos Display" pitchFamily="34" charset="-122"/>
                <a:cs typeface="Aptos Display" pitchFamily="34" charset="-120"/>
              </a:rPr>
              <a:t>5. </a:t>
            </a:r>
            <a:r>
              <a:rPr lang="en-US" sz="2800" b="1" dirty="0">
                <a:solidFill>
                  <a:schemeClr val="bg1"/>
                </a:solidFill>
              </a:rPr>
              <a:t>2×2 Systolic Array: Dataflow</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pPr marL="0" indent="0">
              <a:buNone/>
            </a:pPr>
            <a:r>
              <a:rPr lang="en-US" sz="1200" dirty="0">
                <a:solidFill>
                  <a:srgbClr val="9CA3AF"/>
                </a:solidFill>
              </a:rPr>
              <a:t>A truyền theo hàng, B truyền theo cột, PE tích lũy kết quả</a:t>
            </a:r>
            <a:endParaRPr lang="en-US" sz="1200" dirty="0"/>
          </a:p>
        </p:txBody>
      </p:sp>
      <p:sp>
        <p:nvSpPr>
          <p:cNvPr id="5" name="Shape 3"/>
          <p:cNvSpPr/>
          <p:nvPr/>
        </p:nvSpPr>
        <p:spPr>
          <a:xfrm>
            <a:off x="987552" y="2240280"/>
            <a:ext cx="1234440" cy="0"/>
          </a:xfrm>
          <a:prstGeom prst="line">
            <a:avLst/>
          </a:prstGeom>
          <a:noFill/>
          <a:ln w="25400">
            <a:solidFill>
              <a:srgbClr val="22D3EE"/>
            </a:solidFill>
            <a:prstDash val="solid"/>
            <a:tailEnd type="triangle"/>
          </a:ln>
        </p:spPr>
        <p:txBody>
          <a:bodyPr/>
          <a:lstStyle/>
          <a:p>
            <a:endParaRPr lang="en-US"/>
          </a:p>
        </p:txBody>
      </p:sp>
      <p:sp>
        <p:nvSpPr>
          <p:cNvPr id="6" name="Shape 4"/>
          <p:cNvSpPr/>
          <p:nvPr/>
        </p:nvSpPr>
        <p:spPr>
          <a:xfrm>
            <a:off x="987552" y="3657600"/>
            <a:ext cx="1234440" cy="0"/>
          </a:xfrm>
          <a:prstGeom prst="line">
            <a:avLst/>
          </a:prstGeom>
          <a:noFill/>
          <a:ln w="25400">
            <a:solidFill>
              <a:srgbClr val="22D3EE"/>
            </a:solidFill>
            <a:prstDash val="solid"/>
            <a:tailEnd type="triangle"/>
          </a:ln>
        </p:spPr>
        <p:txBody>
          <a:bodyPr/>
          <a:lstStyle/>
          <a:p>
            <a:endParaRPr lang="en-US"/>
          </a:p>
        </p:txBody>
      </p:sp>
      <p:sp>
        <p:nvSpPr>
          <p:cNvPr id="7" name="Shape 5"/>
          <p:cNvSpPr/>
          <p:nvPr/>
        </p:nvSpPr>
        <p:spPr>
          <a:xfrm>
            <a:off x="2880360" y="960120"/>
            <a:ext cx="0" cy="868680"/>
          </a:xfrm>
          <a:prstGeom prst="line">
            <a:avLst/>
          </a:prstGeom>
          <a:noFill/>
          <a:ln w="25400">
            <a:solidFill>
              <a:srgbClr val="FBBF24"/>
            </a:solidFill>
            <a:prstDash val="solid"/>
            <a:tailEnd type="triangle"/>
          </a:ln>
        </p:spPr>
        <p:txBody>
          <a:bodyPr/>
          <a:lstStyle/>
          <a:p>
            <a:endParaRPr lang="en-US"/>
          </a:p>
        </p:txBody>
      </p:sp>
      <p:sp>
        <p:nvSpPr>
          <p:cNvPr id="8" name="Shape 6"/>
          <p:cNvSpPr/>
          <p:nvPr/>
        </p:nvSpPr>
        <p:spPr>
          <a:xfrm>
            <a:off x="4526280" y="960120"/>
            <a:ext cx="0" cy="868680"/>
          </a:xfrm>
          <a:prstGeom prst="line">
            <a:avLst/>
          </a:prstGeom>
          <a:noFill/>
          <a:ln w="25400">
            <a:solidFill>
              <a:srgbClr val="FBBF24"/>
            </a:solidFill>
            <a:prstDash val="solid"/>
            <a:tailEnd type="triangle"/>
          </a:ln>
        </p:spPr>
        <p:txBody>
          <a:bodyPr/>
          <a:lstStyle/>
          <a:p>
            <a:endParaRPr lang="en-US"/>
          </a:p>
        </p:txBody>
      </p:sp>
      <p:sp>
        <p:nvSpPr>
          <p:cNvPr id="9" name="Shape 7"/>
          <p:cNvSpPr/>
          <p:nvPr/>
        </p:nvSpPr>
        <p:spPr>
          <a:xfrm>
            <a:off x="3429000" y="2240280"/>
            <a:ext cx="841248" cy="0"/>
          </a:xfrm>
          <a:prstGeom prst="line">
            <a:avLst/>
          </a:prstGeom>
          <a:noFill/>
          <a:ln w="25400">
            <a:solidFill>
              <a:srgbClr val="22D3EE"/>
            </a:solidFill>
            <a:prstDash val="solid"/>
            <a:tailEnd type="triangle"/>
          </a:ln>
        </p:spPr>
        <p:txBody>
          <a:bodyPr/>
          <a:lstStyle/>
          <a:p>
            <a:endParaRPr lang="en-US"/>
          </a:p>
        </p:txBody>
      </p:sp>
      <p:sp>
        <p:nvSpPr>
          <p:cNvPr id="10" name="Shape 8"/>
          <p:cNvSpPr/>
          <p:nvPr/>
        </p:nvSpPr>
        <p:spPr>
          <a:xfrm>
            <a:off x="3429000" y="3657600"/>
            <a:ext cx="841248" cy="0"/>
          </a:xfrm>
          <a:prstGeom prst="line">
            <a:avLst/>
          </a:prstGeom>
          <a:noFill/>
          <a:ln w="25400">
            <a:solidFill>
              <a:srgbClr val="22D3EE"/>
            </a:solidFill>
            <a:prstDash val="solid"/>
            <a:tailEnd type="triangle"/>
          </a:ln>
        </p:spPr>
        <p:txBody>
          <a:bodyPr/>
          <a:lstStyle/>
          <a:p>
            <a:endParaRPr lang="en-US"/>
          </a:p>
        </p:txBody>
      </p:sp>
      <p:sp>
        <p:nvSpPr>
          <p:cNvPr id="11" name="Shape 9"/>
          <p:cNvSpPr/>
          <p:nvPr/>
        </p:nvSpPr>
        <p:spPr>
          <a:xfrm>
            <a:off x="5074920" y="2240280"/>
            <a:ext cx="731520" cy="0"/>
          </a:xfrm>
          <a:prstGeom prst="line">
            <a:avLst/>
          </a:prstGeom>
          <a:noFill/>
          <a:ln w="25400">
            <a:solidFill>
              <a:srgbClr val="34D399"/>
            </a:solidFill>
            <a:prstDash val="solid"/>
            <a:tailEnd type="triangle"/>
          </a:ln>
        </p:spPr>
        <p:txBody>
          <a:bodyPr/>
          <a:lstStyle/>
          <a:p>
            <a:endParaRPr lang="en-US"/>
          </a:p>
        </p:txBody>
      </p:sp>
      <p:sp>
        <p:nvSpPr>
          <p:cNvPr id="12" name="Shape 10"/>
          <p:cNvSpPr/>
          <p:nvPr/>
        </p:nvSpPr>
        <p:spPr>
          <a:xfrm>
            <a:off x="5074920" y="3657600"/>
            <a:ext cx="731520" cy="0"/>
          </a:xfrm>
          <a:prstGeom prst="line">
            <a:avLst/>
          </a:prstGeom>
          <a:noFill/>
          <a:ln w="25400">
            <a:solidFill>
              <a:srgbClr val="34D399"/>
            </a:solidFill>
            <a:prstDash val="solid"/>
            <a:tailEnd type="triangle"/>
          </a:ln>
        </p:spPr>
        <p:txBody>
          <a:bodyPr/>
          <a:lstStyle/>
          <a:p>
            <a:endParaRPr lang="en-US"/>
          </a:p>
        </p:txBody>
      </p:sp>
      <p:sp>
        <p:nvSpPr>
          <p:cNvPr id="13" name="Shape 11"/>
          <p:cNvSpPr/>
          <p:nvPr/>
        </p:nvSpPr>
        <p:spPr>
          <a:xfrm>
            <a:off x="2880360" y="2724912"/>
            <a:ext cx="0" cy="612648"/>
          </a:xfrm>
          <a:prstGeom prst="line">
            <a:avLst/>
          </a:prstGeom>
          <a:noFill/>
          <a:ln w="25400">
            <a:solidFill>
              <a:srgbClr val="FBBF24"/>
            </a:solidFill>
            <a:prstDash val="solid"/>
            <a:tailEnd type="triangle"/>
          </a:ln>
        </p:spPr>
        <p:txBody>
          <a:bodyPr/>
          <a:lstStyle/>
          <a:p>
            <a:endParaRPr lang="en-US"/>
          </a:p>
        </p:txBody>
      </p:sp>
      <p:sp>
        <p:nvSpPr>
          <p:cNvPr id="14" name="Shape 12"/>
          <p:cNvSpPr/>
          <p:nvPr/>
        </p:nvSpPr>
        <p:spPr>
          <a:xfrm>
            <a:off x="4526280" y="2724912"/>
            <a:ext cx="0" cy="612648"/>
          </a:xfrm>
          <a:prstGeom prst="line">
            <a:avLst/>
          </a:prstGeom>
          <a:noFill/>
          <a:ln w="25400">
            <a:solidFill>
              <a:srgbClr val="FBBF24"/>
            </a:solidFill>
            <a:prstDash val="solid"/>
            <a:tailEnd type="triangle"/>
          </a:ln>
        </p:spPr>
        <p:txBody>
          <a:bodyPr/>
          <a:lstStyle/>
          <a:p>
            <a:endParaRPr lang="en-US"/>
          </a:p>
        </p:txBody>
      </p:sp>
      <p:sp>
        <p:nvSpPr>
          <p:cNvPr id="15" name="Text 13"/>
          <p:cNvSpPr/>
          <p:nvPr/>
        </p:nvSpPr>
        <p:spPr>
          <a:xfrm>
            <a:off x="2331720" y="1874520"/>
            <a:ext cx="1097280" cy="713232"/>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300" b="1" dirty="0">
                <a:solidFill>
                  <a:srgbClr val="FFFFFF"/>
                </a:solidFill>
              </a:rPr>
              <a:t>PE00</a:t>
            </a:r>
            <a:endParaRPr lang="en-US" sz="1300" dirty="0"/>
          </a:p>
          <a:p>
            <a:pPr marL="0" indent="0" algn="ctr">
              <a:buNone/>
            </a:pPr>
            <a:r>
              <a:rPr lang="en-US" sz="1300" b="1" dirty="0">
                <a:solidFill>
                  <a:srgbClr val="FFFFFF"/>
                </a:solidFill>
              </a:rPr>
              <a:t>acc → c00</a:t>
            </a:r>
            <a:endParaRPr lang="en-US" sz="1300" dirty="0"/>
          </a:p>
        </p:txBody>
      </p:sp>
      <p:sp>
        <p:nvSpPr>
          <p:cNvPr id="16" name="Text 14"/>
          <p:cNvSpPr/>
          <p:nvPr/>
        </p:nvSpPr>
        <p:spPr>
          <a:xfrm>
            <a:off x="3977640" y="1874520"/>
            <a:ext cx="1097280" cy="713232"/>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300" b="1" dirty="0">
                <a:solidFill>
                  <a:srgbClr val="FFFFFF"/>
                </a:solidFill>
              </a:rPr>
              <a:t>PE01</a:t>
            </a:r>
            <a:endParaRPr lang="en-US" sz="1300" dirty="0"/>
          </a:p>
          <a:p>
            <a:pPr marL="0" indent="0" algn="ctr">
              <a:buNone/>
            </a:pPr>
            <a:r>
              <a:rPr lang="en-US" sz="1300" b="1" dirty="0">
                <a:solidFill>
                  <a:srgbClr val="FFFFFF"/>
                </a:solidFill>
              </a:rPr>
              <a:t>acc → c01</a:t>
            </a:r>
            <a:endParaRPr lang="en-US" sz="1300" dirty="0"/>
          </a:p>
        </p:txBody>
      </p:sp>
      <p:sp>
        <p:nvSpPr>
          <p:cNvPr id="17" name="Text 15"/>
          <p:cNvSpPr/>
          <p:nvPr/>
        </p:nvSpPr>
        <p:spPr>
          <a:xfrm>
            <a:off x="2331720" y="3291840"/>
            <a:ext cx="1097280" cy="713232"/>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300" b="1" dirty="0">
                <a:solidFill>
                  <a:srgbClr val="FFFFFF"/>
                </a:solidFill>
              </a:rPr>
              <a:t>PE10</a:t>
            </a:r>
            <a:endParaRPr lang="en-US" sz="1300" dirty="0"/>
          </a:p>
          <a:p>
            <a:pPr marL="0" indent="0" algn="ctr">
              <a:buNone/>
            </a:pPr>
            <a:r>
              <a:rPr lang="en-US" sz="1300" b="1" dirty="0">
                <a:solidFill>
                  <a:srgbClr val="FFFFFF"/>
                </a:solidFill>
              </a:rPr>
              <a:t>acc → c10</a:t>
            </a:r>
            <a:endParaRPr lang="en-US" sz="1300" dirty="0"/>
          </a:p>
        </p:txBody>
      </p:sp>
      <p:sp>
        <p:nvSpPr>
          <p:cNvPr id="18" name="Text 16"/>
          <p:cNvSpPr/>
          <p:nvPr/>
        </p:nvSpPr>
        <p:spPr>
          <a:xfrm>
            <a:off x="3977640" y="3291840"/>
            <a:ext cx="1097280" cy="713232"/>
          </a:xfrm>
          <a:prstGeom prst="rect">
            <a:avLst/>
          </a:prstGeom>
          <a:solidFill>
            <a:srgbClr val="162032"/>
          </a:solidFill>
          <a:ln>
            <a:solidFill>
              <a:srgbClr val="22D3EE"/>
            </a:solidFill>
          </a:ln>
        </p:spPr>
        <p:txBody>
          <a:bodyPr wrap="square" lIns="508" tIns="508" rIns="508" bIns="508" rtlCol="0" anchor="ctr"/>
          <a:lstStyle/>
          <a:p>
            <a:pPr marL="0" indent="0" algn="ctr">
              <a:buNone/>
            </a:pPr>
            <a:r>
              <a:rPr lang="en-US" sz="1300" b="1" dirty="0">
                <a:solidFill>
                  <a:srgbClr val="FFFFFF"/>
                </a:solidFill>
              </a:rPr>
              <a:t>PE11</a:t>
            </a:r>
            <a:endParaRPr lang="en-US" sz="1300" dirty="0"/>
          </a:p>
          <a:p>
            <a:pPr marL="0" indent="0" algn="ctr">
              <a:buNone/>
            </a:pPr>
            <a:r>
              <a:rPr lang="en-US" sz="1300" b="1" dirty="0">
                <a:solidFill>
                  <a:srgbClr val="FFFFFF"/>
                </a:solidFill>
              </a:rPr>
              <a:t>acc → c11</a:t>
            </a:r>
            <a:endParaRPr lang="en-US" sz="1300" dirty="0"/>
          </a:p>
        </p:txBody>
      </p:sp>
      <p:sp>
        <p:nvSpPr>
          <p:cNvPr id="19" name="Text 17"/>
          <p:cNvSpPr/>
          <p:nvPr/>
        </p:nvSpPr>
        <p:spPr>
          <a:xfrm>
            <a:off x="502920" y="2103120"/>
            <a:ext cx="640080" cy="201168"/>
          </a:xfrm>
          <a:prstGeom prst="rect">
            <a:avLst/>
          </a:prstGeom>
          <a:noFill/>
        </p:spPr>
        <p:txBody>
          <a:bodyPr wrap="square" lIns="0" tIns="0" rIns="0" bIns="0" rtlCol="0" anchor="ctr"/>
          <a:lstStyle/>
          <a:p>
            <a:pPr marL="0" indent="0">
              <a:buNone/>
            </a:pPr>
            <a:r>
              <a:rPr lang="en-US" sz="1000" dirty="0">
                <a:solidFill>
                  <a:srgbClr val="22D3EE"/>
                </a:solidFill>
              </a:rPr>
              <a:t>A row 0</a:t>
            </a:r>
            <a:endParaRPr lang="en-US" sz="1000" dirty="0"/>
          </a:p>
        </p:txBody>
      </p:sp>
      <p:sp>
        <p:nvSpPr>
          <p:cNvPr id="20" name="Text 18"/>
          <p:cNvSpPr/>
          <p:nvPr/>
        </p:nvSpPr>
        <p:spPr>
          <a:xfrm>
            <a:off x="502920" y="3520440"/>
            <a:ext cx="640080" cy="201168"/>
          </a:xfrm>
          <a:prstGeom prst="rect">
            <a:avLst/>
          </a:prstGeom>
          <a:noFill/>
        </p:spPr>
        <p:txBody>
          <a:bodyPr wrap="square" lIns="0" tIns="0" rIns="0" bIns="0" rtlCol="0" anchor="ctr"/>
          <a:lstStyle/>
          <a:p>
            <a:pPr marL="0" indent="0">
              <a:buNone/>
            </a:pPr>
            <a:r>
              <a:rPr lang="en-US" sz="1000" dirty="0">
                <a:solidFill>
                  <a:srgbClr val="22D3EE"/>
                </a:solidFill>
              </a:rPr>
              <a:t>A row 1</a:t>
            </a:r>
            <a:endParaRPr lang="en-US" sz="1000" dirty="0"/>
          </a:p>
        </p:txBody>
      </p:sp>
      <p:sp>
        <p:nvSpPr>
          <p:cNvPr id="21" name="Text 19"/>
          <p:cNvSpPr/>
          <p:nvPr/>
        </p:nvSpPr>
        <p:spPr>
          <a:xfrm>
            <a:off x="2542032" y="1298448"/>
            <a:ext cx="658368" cy="201168"/>
          </a:xfrm>
          <a:prstGeom prst="rect">
            <a:avLst/>
          </a:prstGeom>
          <a:noFill/>
        </p:spPr>
        <p:txBody>
          <a:bodyPr wrap="square" lIns="0" tIns="0" rIns="0" bIns="0" rtlCol="0" anchor="ctr"/>
          <a:lstStyle/>
          <a:p>
            <a:pPr marL="0" indent="0" algn="ctr">
              <a:buNone/>
            </a:pPr>
            <a:r>
              <a:rPr lang="en-US" sz="1000" dirty="0">
                <a:solidFill>
                  <a:srgbClr val="FBBF24"/>
                </a:solidFill>
              </a:rPr>
              <a:t>B col 0</a:t>
            </a:r>
            <a:endParaRPr lang="en-US" sz="1000" dirty="0"/>
          </a:p>
        </p:txBody>
      </p:sp>
      <p:sp>
        <p:nvSpPr>
          <p:cNvPr id="22" name="Text 20"/>
          <p:cNvSpPr/>
          <p:nvPr/>
        </p:nvSpPr>
        <p:spPr>
          <a:xfrm>
            <a:off x="4187952" y="1298448"/>
            <a:ext cx="658368" cy="201168"/>
          </a:xfrm>
          <a:prstGeom prst="rect">
            <a:avLst/>
          </a:prstGeom>
          <a:noFill/>
        </p:spPr>
        <p:txBody>
          <a:bodyPr wrap="square" lIns="0" tIns="0" rIns="0" bIns="0" rtlCol="0" anchor="ctr"/>
          <a:lstStyle/>
          <a:p>
            <a:pPr marL="0" indent="0" algn="ctr">
              <a:buNone/>
            </a:pPr>
            <a:r>
              <a:rPr lang="en-US" sz="1000" dirty="0">
                <a:solidFill>
                  <a:srgbClr val="FBBF24"/>
                </a:solidFill>
              </a:rPr>
              <a:t>B col 1</a:t>
            </a:r>
            <a:endParaRPr lang="en-US" sz="1000" dirty="0"/>
          </a:p>
        </p:txBody>
      </p:sp>
      <p:sp>
        <p:nvSpPr>
          <p:cNvPr id="23" name="Text 21"/>
          <p:cNvSpPr/>
          <p:nvPr/>
        </p:nvSpPr>
        <p:spPr>
          <a:xfrm>
            <a:off x="6492239" y="1325880"/>
            <a:ext cx="4539175" cy="320040"/>
          </a:xfrm>
          <a:prstGeom prst="rect">
            <a:avLst/>
          </a:prstGeom>
          <a:noFill/>
        </p:spPr>
        <p:txBody>
          <a:bodyPr wrap="square" lIns="0" tIns="0" rIns="0" bIns="0" rtlCol="0" anchor="ctr"/>
          <a:lstStyle/>
          <a:p>
            <a:r>
              <a:rPr lang="en-US" sz="2000" dirty="0">
                <a:solidFill>
                  <a:schemeClr val="bg1"/>
                </a:solidFill>
              </a:rPr>
              <a:t>Example Computation Cycle for Each PE</a:t>
            </a:r>
            <a:endParaRPr lang="en-US" sz="2000" dirty="0">
              <a:solidFill>
                <a:schemeClr val="bg1"/>
              </a:solidFill>
            </a:endParaRPr>
          </a:p>
        </p:txBody>
      </p:sp>
      <p:sp>
        <p:nvSpPr>
          <p:cNvPr id="24" name="Text 22"/>
          <p:cNvSpPr/>
          <p:nvPr/>
        </p:nvSpPr>
        <p:spPr>
          <a:xfrm>
            <a:off x="6492240" y="1874520"/>
            <a:ext cx="960120" cy="420624"/>
          </a:xfrm>
          <a:prstGeom prst="rect">
            <a:avLst/>
          </a:prstGeom>
          <a:solidFill>
            <a:srgbClr val="162032"/>
          </a:solidFill>
          <a:ln>
            <a:solidFill>
              <a:srgbClr val="334155">
                <a:alpha val="75000"/>
              </a:srgbClr>
            </a:solidFill>
          </a:ln>
        </p:spPr>
        <p:txBody>
          <a:bodyPr wrap="square" lIns="254" tIns="254" rIns="254" bIns="254" rtlCol="0" anchor="ctr"/>
          <a:lstStyle/>
          <a:p>
            <a:pPr marL="0" indent="0" algn="ctr">
              <a:buNone/>
            </a:pPr>
            <a:r>
              <a:rPr lang="en-US" sz="1200" b="1" dirty="0">
                <a:solidFill>
                  <a:srgbClr val="22D3EE"/>
                </a:solidFill>
              </a:rPr>
              <a:t>Cycle</a:t>
            </a:r>
            <a:endParaRPr lang="en-US" sz="1200" dirty="0"/>
          </a:p>
        </p:txBody>
      </p:sp>
      <p:sp>
        <p:nvSpPr>
          <p:cNvPr id="25" name="Text 23"/>
          <p:cNvSpPr/>
          <p:nvPr/>
        </p:nvSpPr>
        <p:spPr>
          <a:xfrm>
            <a:off x="7452360" y="1874520"/>
            <a:ext cx="1691640" cy="420624"/>
          </a:xfrm>
          <a:prstGeom prst="rect">
            <a:avLst/>
          </a:prstGeom>
          <a:solidFill>
            <a:srgbClr val="162032"/>
          </a:solidFill>
          <a:ln>
            <a:solidFill>
              <a:srgbClr val="334155">
                <a:alpha val="75000"/>
              </a:srgbClr>
            </a:solidFill>
          </a:ln>
        </p:spPr>
        <p:txBody>
          <a:bodyPr wrap="square" lIns="254" tIns="254" rIns="254" bIns="254" rtlCol="0" anchor="ctr">
            <a:normAutofit/>
          </a:bodyPr>
          <a:lstStyle/>
          <a:p>
            <a:pPr marL="0" indent="0" algn="ctr">
              <a:buNone/>
            </a:pPr>
            <a:r>
              <a:rPr lang="en-US" sz="1150" b="1" dirty="0">
                <a:solidFill>
                  <a:srgbClr val="22D3EE"/>
                </a:solidFill>
              </a:rPr>
              <a:t>Input Data to PE</a:t>
            </a:r>
            <a:endParaRPr lang="en-US" sz="1150" dirty="0"/>
          </a:p>
        </p:txBody>
      </p:sp>
      <p:sp>
        <p:nvSpPr>
          <p:cNvPr id="26" name="Text 24"/>
          <p:cNvSpPr/>
          <p:nvPr/>
        </p:nvSpPr>
        <p:spPr>
          <a:xfrm>
            <a:off x="9144000" y="1874520"/>
            <a:ext cx="2057400" cy="420624"/>
          </a:xfrm>
          <a:prstGeom prst="rect">
            <a:avLst/>
          </a:prstGeom>
          <a:solidFill>
            <a:srgbClr val="162032"/>
          </a:solidFill>
          <a:ln>
            <a:solidFill>
              <a:srgbClr val="334155">
                <a:alpha val="75000"/>
              </a:srgbClr>
            </a:solidFill>
          </a:ln>
        </p:spPr>
        <p:txBody>
          <a:bodyPr wrap="square" lIns="254" tIns="254" rIns="254" bIns="254" rtlCol="0" anchor="ctr">
            <a:normAutofit/>
          </a:bodyPr>
          <a:lstStyle/>
          <a:p>
            <a:pPr marL="0" indent="0" algn="ctr">
              <a:buNone/>
            </a:pPr>
            <a:r>
              <a:rPr lang="en-US" sz="1150" b="1" dirty="0">
                <a:solidFill>
                  <a:srgbClr val="22D3EE"/>
                </a:solidFill>
              </a:rPr>
              <a:t>Accumulator Update</a:t>
            </a:r>
            <a:endParaRPr lang="en-US" sz="1150" dirty="0"/>
          </a:p>
        </p:txBody>
      </p:sp>
      <p:sp>
        <p:nvSpPr>
          <p:cNvPr id="27" name="Text 25"/>
          <p:cNvSpPr/>
          <p:nvPr/>
        </p:nvSpPr>
        <p:spPr>
          <a:xfrm>
            <a:off x="6492240" y="2514600"/>
            <a:ext cx="960120" cy="420624"/>
          </a:xfrm>
          <a:prstGeom prst="rect">
            <a:avLst/>
          </a:prstGeom>
          <a:solidFill>
            <a:srgbClr val="0F172A"/>
          </a:solidFill>
          <a:ln>
            <a:solidFill>
              <a:srgbClr val="334155">
                <a:alpha val="75000"/>
              </a:srgbClr>
            </a:solidFill>
          </a:ln>
        </p:spPr>
        <p:txBody>
          <a:bodyPr wrap="square" lIns="254" tIns="254" rIns="254" bIns="254" rtlCol="0" anchor="ctr"/>
          <a:lstStyle/>
          <a:p>
            <a:pPr marL="0" indent="0" algn="ctr">
              <a:buNone/>
            </a:pPr>
            <a:r>
              <a:rPr lang="en-US" sz="1200" dirty="0">
                <a:solidFill>
                  <a:srgbClr val="E5E7EB"/>
                </a:solidFill>
              </a:rPr>
              <a:t>1</a:t>
            </a:r>
            <a:endParaRPr lang="en-US" sz="1200" dirty="0"/>
          </a:p>
        </p:txBody>
      </p:sp>
      <p:sp>
        <p:nvSpPr>
          <p:cNvPr id="28" name="Text 26"/>
          <p:cNvSpPr/>
          <p:nvPr/>
        </p:nvSpPr>
        <p:spPr>
          <a:xfrm>
            <a:off x="7452360" y="2514600"/>
            <a:ext cx="169164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A[i][0], B[0][j]</a:t>
            </a:r>
            <a:endParaRPr lang="en-US" sz="1150" dirty="0"/>
          </a:p>
        </p:txBody>
      </p:sp>
      <p:sp>
        <p:nvSpPr>
          <p:cNvPr id="29" name="Text 27"/>
          <p:cNvSpPr/>
          <p:nvPr/>
        </p:nvSpPr>
        <p:spPr>
          <a:xfrm>
            <a:off x="9144000" y="2514600"/>
            <a:ext cx="205740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acc = A[i][0]×B[0][j]</a:t>
            </a:r>
            <a:endParaRPr lang="en-US" sz="1150" dirty="0"/>
          </a:p>
        </p:txBody>
      </p:sp>
      <p:sp>
        <p:nvSpPr>
          <p:cNvPr id="30" name="Text 28"/>
          <p:cNvSpPr/>
          <p:nvPr/>
        </p:nvSpPr>
        <p:spPr>
          <a:xfrm>
            <a:off x="6492240" y="3154680"/>
            <a:ext cx="960120" cy="420624"/>
          </a:xfrm>
          <a:prstGeom prst="rect">
            <a:avLst/>
          </a:prstGeom>
          <a:solidFill>
            <a:srgbClr val="0F172A"/>
          </a:solidFill>
          <a:ln>
            <a:solidFill>
              <a:srgbClr val="334155">
                <a:alpha val="75000"/>
              </a:srgbClr>
            </a:solidFill>
          </a:ln>
        </p:spPr>
        <p:txBody>
          <a:bodyPr wrap="square" lIns="254" tIns="254" rIns="254" bIns="254" rtlCol="0" anchor="ctr"/>
          <a:lstStyle/>
          <a:p>
            <a:pPr marL="0" indent="0" algn="ctr">
              <a:buNone/>
            </a:pPr>
            <a:r>
              <a:rPr lang="en-US" sz="1200" dirty="0">
                <a:solidFill>
                  <a:srgbClr val="E5E7EB"/>
                </a:solidFill>
              </a:rPr>
              <a:t>2</a:t>
            </a:r>
            <a:endParaRPr lang="en-US" sz="1200" dirty="0"/>
          </a:p>
        </p:txBody>
      </p:sp>
      <p:sp>
        <p:nvSpPr>
          <p:cNvPr id="31" name="Text 29"/>
          <p:cNvSpPr/>
          <p:nvPr/>
        </p:nvSpPr>
        <p:spPr>
          <a:xfrm>
            <a:off x="7452360" y="3154680"/>
            <a:ext cx="169164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A[i][1], B[1][j]</a:t>
            </a:r>
            <a:endParaRPr lang="en-US" sz="1150" dirty="0"/>
          </a:p>
        </p:txBody>
      </p:sp>
      <p:sp>
        <p:nvSpPr>
          <p:cNvPr id="32" name="Text 30"/>
          <p:cNvSpPr/>
          <p:nvPr/>
        </p:nvSpPr>
        <p:spPr>
          <a:xfrm>
            <a:off x="9144000" y="3154680"/>
            <a:ext cx="205740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acc += A[i][1]×B[1][j]</a:t>
            </a:r>
            <a:endParaRPr lang="en-US" sz="1150" dirty="0"/>
          </a:p>
        </p:txBody>
      </p:sp>
      <p:sp>
        <p:nvSpPr>
          <p:cNvPr id="33" name="Text 31"/>
          <p:cNvSpPr/>
          <p:nvPr/>
        </p:nvSpPr>
        <p:spPr>
          <a:xfrm>
            <a:off x="6492240" y="3794760"/>
            <a:ext cx="960120" cy="420624"/>
          </a:xfrm>
          <a:prstGeom prst="rect">
            <a:avLst/>
          </a:prstGeom>
          <a:solidFill>
            <a:srgbClr val="0F172A"/>
          </a:solidFill>
          <a:ln>
            <a:solidFill>
              <a:srgbClr val="334155">
                <a:alpha val="75000"/>
              </a:srgbClr>
            </a:solidFill>
          </a:ln>
        </p:spPr>
        <p:txBody>
          <a:bodyPr wrap="square" lIns="254" tIns="254" rIns="254" bIns="254" rtlCol="0" anchor="ctr"/>
          <a:lstStyle/>
          <a:p>
            <a:pPr marL="0" indent="0" algn="ctr">
              <a:buNone/>
            </a:pPr>
            <a:r>
              <a:rPr lang="en-US" sz="1200" dirty="0">
                <a:solidFill>
                  <a:srgbClr val="E5E7EB"/>
                </a:solidFill>
              </a:rPr>
              <a:t>3</a:t>
            </a:r>
            <a:endParaRPr lang="en-US" sz="1200" dirty="0"/>
          </a:p>
        </p:txBody>
      </p:sp>
      <p:sp>
        <p:nvSpPr>
          <p:cNvPr id="34" name="Text 32"/>
          <p:cNvSpPr/>
          <p:nvPr/>
        </p:nvSpPr>
        <p:spPr>
          <a:xfrm>
            <a:off x="7452360" y="3794760"/>
            <a:ext cx="169164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a:t>
            </a:r>
            <a:endParaRPr lang="en-US" sz="1150" dirty="0"/>
          </a:p>
        </p:txBody>
      </p:sp>
      <p:sp>
        <p:nvSpPr>
          <p:cNvPr id="35" name="Text 33"/>
          <p:cNvSpPr/>
          <p:nvPr/>
        </p:nvSpPr>
        <p:spPr>
          <a:xfrm>
            <a:off x="9144000" y="3794760"/>
            <a:ext cx="2057400" cy="420624"/>
          </a:xfrm>
          <a:prstGeom prst="rect">
            <a:avLst/>
          </a:prstGeom>
          <a:solidFill>
            <a:srgbClr val="0F172A"/>
          </a:solidFill>
          <a:ln>
            <a:solidFill>
              <a:srgbClr val="334155">
                <a:alpha val="75000"/>
              </a:srgbClr>
            </a:solidFill>
          </a:ln>
        </p:spPr>
        <p:txBody>
          <a:bodyPr wrap="square" lIns="254" tIns="254" rIns="254" bIns="254" rtlCol="0" anchor="ctr">
            <a:normAutofit/>
          </a:bodyPr>
          <a:lstStyle/>
          <a:p>
            <a:pPr marL="0" indent="0" algn="ctr">
              <a:buNone/>
            </a:pPr>
            <a:r>
              <a:rPr lang="en-US" sz="1150" dirty="0">
                <a:solidFill>
                  <a:srgbClr val="E5E7EB"/>
                </a:solidFill>
              </a:rPr>
              <a:t>C[i][j] = acc, valid = 1</a:t>
            </a:r>
            <a:endParaRPr lang="en-US" sz="1150" dirty="0"/>
          </a:p>
        </p:txBody>
      </p:sp>
      <p:sp>
        <p:nvSpPr>
          <p:cNvPr id="36" name="Text 34"/>
          <p:cNvSpPr/>
          <p:nvPr/>
        </p:nvSpPr>
        <p:spPr>
          <a:xfrm>
            <a:off x="914399" y="5216652"/>
            <a:ext cx="10345615" cy="594359"/>
          </a:xfrm>
          <a:prstGeom prst="rect">
            <a:avLst/>
          </a:prstGeom>
          <a:noFill/>
        </p:spPr>
        <p:txBody>
          <a:bodyPr wrap="square" lIns="0" tIns="0" rIns="0" bIns="0" rtlCol="0" anchor="ctr"/>
          <a:lstStyle/>
          <a:p>
            <a:pPr algn="ctr"/>
            <a:r>
              <a:rPr lang="en-US" sz="1600" dirty="0">
                <a:solidFill>
                  <a:schemeClr val="bg1"/>
                </a:solidFill>
              </a:rPr>
              <a:t>For a 2×2 matrix, each PE performs two MAC operations. Once the pipeline is active, the array can accept a new matrix at a fixed interval.</a:t>
            </a:r>
            <a:endParaRPr lang="en-US" sz="1500" dirty="0">
              <a:solidFill>
                <a:schemeClr val="bg1"/>
              </a:solidFill>
            </a:endParaRPr>
          </a:p>
        </p:txBody>
      </p:sp>
      <p:sp>
        <p:nvSpPr>
          <p:cNvPr id="37" name="Text 35"/>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38" name="Text 36"/>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07</a:t>
            </a:r>
            <a:endParaRPr lang="en-US" sz="850" dirty="0"/>
          </a:p>
        </p:txBody>
      </p:sp>
      <p:pic>
        <p:nvPicPr>
          <p:cNvPr id="40" name="Picture 39"/>
          <p:cNvPicPr>
            <a:picLocks noChangeAspect="1"/>
          </p:cNvPicPr>
          <p:nvPr/>
        </p:nvPicPr>
        <p:blipFill>
          <a:blip r:embed="rId1"/>
          <a:stretch>
            <a:fillRect/>
          </a:stretch>
        </p:blipFill>
        <p:spPr>
          <a:xfrm>
            <a:off x="102134" y="959993"/>
            <a:ext cx="6230088" cy="3886200"/>
          </a:xfrm>
          <a:prstGeom prst="rect">
            <a:avLst/>
          </a:prstGeom>
          <a:solidFill>
            <a:schemeClr val="tx1"/>
          </a:solidFill>
        </p:spPr>
      </p:pic>
      <p:pic>
        <p:nvPicPr>
          <p:cNvPr id="39" name="Picture 38"/>
          <p:cNvPicPr>
            <a:picLocks noChangeAspect="1"/>
          </p:cNvPicPr>
          <p:nvPr/>
        </p:nvPicPr>
        <p:blipFill>
          <a:blip r:embed="rId2"/>
          <a:stretch>
            <a:fillRect/>
          </a:stretch>
        </p:blipFill>
        <p:spPr>
          <a:xfrm>
            <a:off x="9996170" y="409575"/>
            <a:ext cx="1939290" cy="756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2D3EE"/>
          </a:solidFill>
          <a:ln w="12700">
            <a:solidFill>
              <a:srgbClr val="22D3EE"/>
            </a:solidFill>
            <a:prstDash val="solid"/>
          </a:ln>
        </p:spPr>
        <p:txBody>
          <a:bodyPr/>
          <a:lstStyle/>
          <a:p>
            <a:endParaRPr lang="en-US"/>
          </a:p>
        </p:txBody>
      </p:sp>
      <p:sp>
        <p:nvSpPr>
          <p:cNvPr id="3" name="Text 1"/>
          <p:cNvSpPr/>
          <p:nvPr/>
        </p:nvSpPr>
        <p:spPr>
          <a:xfrm>
            <a:off x="566928" y="384048"/>
            <a:ext cx="8595360" cy="475488"/>
          </a:xfrm>
          <a:prstGeom prst="rect">
            <a:avLst/>
          </a:prstGeom>
          <a:noFill/>
        </p:spPr>
        <p:txBody>
          <a:bodyPr wrap="square" lIns="0" tIns="0" rIns="0" bIns="0" rtlCol="0" anchor="ctr"/>
          <a:lstStyle/>
          <a:p>
            <a:r>
              <a:rPr lang="en-US" sz="2800" b="1" dirty="0">
                <a:solidFill>
                  <a:schemeClr val="bg1"/>
                </a:solidFill>
                <a:latin typeface="Aptos Display" pitchFamily="34" charset="0"/>
                <a:ea typeface="Aptos Display" pitchFamily="34" charset="-122"/>
                <a:cs typeface="Aptos Display" pitchFamily="34" charset="-120"/>
              </a:rPr>
              <a:t>6. </a:t>
            </a:r>
            <a:r>
              <a:rPr lang="en-US" sz="2800" b="1" dirty="0">
                <a:solidFill>
                  <a:schemeClr val="bg1"/>
                </a:solidFill>
              </a:rPr>
              <a:t>Two Implementation Architectures</a:t>
            </a:r>
            <a:endParaRPr lang="en-US" sz="2800" b="1" dirty="0">
              <a:solidFill>
                <a:schemeClr val="bg1"/>
              </a:solidFill>
            </a:endParaRPr>
          </a:p>
        </p:txBody>
      </p:sp>
      <p:sp>
        <p:nvSpPr>
          <p:cNvPr id="4" name="Text 2"/>
          <p:cNvSpPr/>
          <p:nvPr/>
        </p:nvSpPr>
        <p:spPr>
          <a:xfrm>
            <a:off x="594360" y="896112"/>
            <a:ext cx="8503920" cy="329184"/>
          </a:xfrm>
          <a:prstGeom prst="rect">
            <a:avLst/>
          </a:prstGeom>
          <a:noFill/>
        </p:spPr>
        <p:txBody>
          <a:bodyPr wrap="square" lIns="0" tIns="0" rIns="0" bIns="0" rtlCol="0" anchor="ctr"/>
          <a:lstStyle/>
          <a:p>
            <a:r>
              <a:rPr lang="en-US" sz="1200" dirty="0">
                <a:solidFill>
                  <a:schemeClr val="bg1"/>
                </a:solidFill>
              </a:rPr>
              <a:t>Comparison between a fully parallel design and a sequential resource-sharing design</a:t>
            </a:r>
            <a:endParaRPr lang="en-US" sz="1200" dirty="0">
              <a:solidFill>
                <a:schemeClr val="bg1"/>
              </a:solidFill>
            </a:endParaRPr>
          </a:p>
        </p:txBody>
      </p:sp>
      <p:sp>
        <p:nvSpPr>
          <p:cNvPr id="5" name="Text 3"/>
          <p:cNvSpPr/>
          <p:nvPr/>
        </p:nvSpPr>
        <p:spPr>
          <a:xfrm>
            <a:off x="777240" y="1325880"/>
            <a:ext cx="3291840" cy="347472"/>
          </a:xfrm>
          <a:prstGeom prst="rect">
            <a:avLst/>
          </a:prstGeom>
          <a:noFill/>
        </p:spPr>
        <p:txBody>
          <a:bodyPr wrap="square" lIns="0" tIns="0" rIns="0" bIns="0" rtlCol="0" anchor="ctr"/>
          <a:lstStyle/>
          <a:p>
            <a:pPr marL="0" indent="0">
              <a:buNone/>
            </a:pPr>
            <a:r>
              <a:rPr lang="en-US" sz="2300" b="1" dirty="0">
                <a:solidFill>
                  <a:srgbClr val="22D3EE"/>
                </a:solidFill>
              </a:rPr>
              <a:t>Parallel / Systolic Array</a:t>
            </a:r>
            <a:endParaRPr lang="en-US" sz="2300" dirty="0"/>
          </a:p>
        </p:txBody>
      </p:sp>
      <p:sp>
        <p:nvSpPr>
          <p:cNvPr id="6" name="Text 4"/>
          <p:cNvSpPr/>
          <p:nvPr/>
        </p:nvSpPr>
        <p:spPr>
          <a:xfrm>
            <a:off x="1051560" y="1828800"/>
            <a:ext cx="777240" cy="457200"/>
          </a:xfrm>
          <a:prstGeom prst="rect">
            <a:avLst/>
          </a:prstGeom>
          <a:solidFill>
            <a:srgbClr val="162032"/>
          </a:solidFill>
          <a:ln>
            <a:solidFill>
              <a:srgbClr val="22D3EE"/>
            </a:solidFill>
          </a:ln>
        </p:spPr>
        <p:txBody>
          <a:bodyPr wrap="square" lIns="0" tIns="0" rIns="0" bIns="0" rtlCol="0" anchor="ctr"/>
          <a:lstStyle/>
          <a:p>
            <a:pPr marL="0" indent="0" algn="ctr">
              <a:buNone/>
            </a:pPr>
            <a:r>
              <a:rPr lang="en-US" sz="1500" b="1" dirty="0">
                <a:solidFill>
                  <a:srgbClr val="FFFFFF"/>
                </a:solidFill>
              </a:rPr>
              <a:t>PE</a:t>
            </a:r>
            <a:endParaRPr lang="en-US" sz="1500" dirty="0"/>
          </a:p>
        </p:txBody>
      </p:sp>
      <p:sp>
        <p:nvSpPr>
          <p:cNvPr id="7" name="Text 5"/>
          <p:cNvSpPr/>
          <p:nvPr/>
        </p:nvSpPr>
        <p:spPr>
          <a:xfrm>
            <a:off x="2103120" y="1828800"/>
            <a:ext cx="777240" cy="457200"/>
          </a:xfrm>
          <a:prstGeom prst="rect">
            <a:avLst/>
          </a:prstGeom>
          <a:solidFill>
            <a:srgbClr val="162032"/>
          </a:solidFill>
          <a:ln>
            <a:solidFill>
              <a:srgbClr val="22D3EE"/>
            </a:solidFill>
          </a:ln>
        </p:spPr>
        <p:txBody>
          <a:bodyPr wrap="square" lIns="0" tIns="0" rIns="0" bIns="0" rtlCol="0" anchor="ctr"/>
          <a:lstStyle/>
          <a:p>
            <a:pPr marL="0" indent="0" algn="ctr">
              <a:buNone/>
            </a:pPr>
            <a:r>
              <a:rPr lang="en-US" sz="1500" b="1" dirty="0">
                <a:solidFill>
                  <a:srgbClr val="FFFFFF"/>
                </a:solidFill>
              </a:rPr>
              <a:t>PE</a:t>
            </a:r>
            <a:endParaRPr lang="en-US" sz="1500" dirty="0"/>
          </a:p>
        </p:txBody>
      </p:sp>
      <p:sp>
        <p:nvSpPr>
          <p:cNvPr id="8" name="Text 6"/>
          <p:cNvSpPr/>
          <p:nvPr/>
        </p:nvSpPr>
        <p:spPr>
          <a:xfrm>
            <a:off x="1051560" y="2633472"/>
            <a:ext cx="777240" cy="457200"/>
          </a:xfrm>
          <a:prstGeom prst="rect">
            <a:avLst/>
          </a:prstGeom>
          <a:solidFill>
            <a:srgbClr val="162032"/>
          </a:solidFill>
          <a:ln>
            <a:solidFill>
              <a:srgbClr val="22D3EE"/>
            </a:solidFill>
          </a:ln>
        </p:spPr>
        <p:txBody>
          <a:bodyPr wrap="square" lIns="0" tIns="0" rIns="0" bIns="0" rtlCol="0" anchor="ctr"/>
          <a:lstStyle/>
          <a:p>
            <a:pPr marL="0" indent="0" algn="ctr">
              <a:buNone/>
            </a:pPr>
            <a:r>
              <a:rPr lang="en-US" sz="1500" b="1" dirty="0">
                <a:solidFill>
                  <a:srgbClr val="FFFFFF"/>
                </a:solidFill>
              </a:rPr>
              <a:t>PE</a:t>
            </a:r>
            <a:endParaRPr lang="en-US" sz="1500" dirty="0"/>
          </a:p>
        </p:txBody>
      </p:sp>
      <p:sp>
        <p:nvSpPr>
          <p:cNvPr id="9" name="Text 7"/>
          <p:cNvSpPr/>
          <p:nvPr/>
        </p:nvSpPr>
        <p:spPr>
          <a:xfrm>
            <a:off x="2103120" y="2633472"/>
            <a:ext cx="777240" cy="457200"/>
          </a:xfrm>
          <a:prstGeom prst="rect">
            <a:avLst/>
          </a:prstGeom>
          <a:solidFill>
            <a:srgbClr val="162032"/>
          </a:solidFill>
          <a:ln>
            <a:solidFill>
              <a:srgbClr val="22D3EE"/>
            </a:solidFill>
          </a:ln>
        </p:spPr>
        <p:txBody>
          <a:bodyPr wrap="square" lIns="0" tIns="0" rIns="0" bIns="0" rtlCol="0" anchor="ctr"/>
          <a:lstStyle/>
          <a:p>
            <a:pPr marL="0" indent="0" algn="ctr">
              <a:buNone/>
            </a:pPr>
            <a:r>
              <a:rPr lang="en-US" sz="1500" b="1" dirty="0">
                <a:solidFill>
                  <a:srgbClr val="FFFFFF"/>
                </a:solidFill>
              </a:rPr>
              <a:t>PE</a:t>
            </a:r>
            <a:endParaRPr lang="en-US" sz="1500" dirty="0"/>
          </a:p>
        </p:txBody>
      </p:sp>
      <p:sp>
        <p:nvSpPr>
          <p:cNvPr id="10" name="Text 8"/>
          <p:cNvSpPr/>
          <p:nvPr/>
        </p:nvSpPr>
        <p:spPr>
          <a:xfrm>
            <a:off x="735622" y="3531812"/>
            <a:ext cx="3050929" cy="1298096"/>
          </a:xfrm>
          <a:prstGeom prst="rect">
            <a:avLst/>
          </a:prstGeom>
          <a:noFill/>
        </p:spPr>
        <p:txBody>
          <a:bodyPr wrap="square" lIns="508" tIns="508" rIns="508" bIns="508" rtlCol="0" anchor="ctr">
            <a:normAutofit fontScale="92500" lnSpcReduction="10000"/>
          </a:bodyPr>
          <a:lstStyle/>
          <a:p>
            <a:r>
              <a:rPr lang="en-US" sz="1600" b="1" dirty="0">
                <a:solidFill>
                  <a:schemeClr val="bg1"/>
                </a:solidFill>
              </a:rPr>
              <a:t>Advantages:</a:t>
            </a:r>
            <a:endParaRPr lang="en-US" sz="1600" dirty="0">
              <a:solidFill>
                <a:schemeClr val="bg1"/>
              </a:solidFill>
            </a:endParaRPr>
          </a:p>
          <a:p>
            <a:r>
              <a:rPr lang="en-US" sz="1600" dirty="0">
                <a:solidFill>
                  <a:schemeClr val="bg1"/>
                </a:solidFill>
              </a:rPr>
              <a:t>High processing speed </a:t>
            </a:r>
            <a:endParaRPr lang="en-US" sz="1600" dirty="0">
              <a:solidFill>
                <a:schemeClr val="bg1"/>
              </a:solidFill>
            </a:endParaRPr>
          </a:p>
          <a:p>
            <a:r>
              <a:rPr lang="en-US" sz="1600" dirty="0">
                <a:solidFill>
                  <a:schemeClr val="bg1"/>
                </a:solidFill>
              </a:rPr>
              <a:t>Well suited for pipelining </a:t>
            </a:r>
            <a:endParaRPr lang="en-US" sz="1600" dirty="0">
              <a:solidFill>
                <a:schemeClr val="bg1"/>
              </a:solidFill>
            </a:endParaRPr>
          </a:p>
          <a:p>
            <a:r>
              <a:rPr lang="en-US" sz="1600" dirty="0">
                <a:solidFill>
                  <a:schemeClr val="bg1"/>
                </a:solidFill>
              </a:rPr>
              <a:t>High throughput </a:t>
            </a:r>
            <a:endParaRPr lang="en-US" sz="1600" dirty="0">
              <a:solidFill>
                <a:schemeClr val="bg1"/>
              </a:solidFill>
            </a:endParaRPr>
          </a:p>
          <a:p>
            <a:r>
              <a:rPr lang="en-US" sz="1600" b="1" dirty="0">
                <a:solidFill>
                  <a:schemeClr val="bg1"/>
                </a:solidFill>
              </a:rPr>
              <a:t>Disadvantages:</a:t>
            </a:r>
            <a:endParaRPr lang="en-US" sz="1600" dirty="0">
              <a:solidFill>
                <a:schemeClr val="bg1"/>
              </a:solidFill>
            </a:endParaRPr>
          </a:p>
          <a:p>
            <a:r>
              <a:rPr lang="en-US" sz="1600" dirty="0">
                <a:solidFill>
                  <a:schemeClr val="bg1"/>
                </a:solidFill>
              </a:rPr>
              <a:t>Higher LUT, DSP, and flip-flop usage</a:t>
            </a:r>
            <a:endParaRPr lang="en-US" sz="1600" dirty="0">
              <a:solidFill>
                <a:schemeClr val="bg1"/>
              </a:solidFill>
            </a:endParaRPr>
          </a:p>
        </p:txBody>
      </p:sp>
      <p:sp>
        <p:nvSpPr>
          <p:cNvPr id="11" name="Text 9"/>
          <p:cNvSpPr/>
          <p:nvPr/>
        </p:nvSpPr>
        <p:spPr>
          <a:xfrm>
            <a:off x="735621" y="4949132"/>
            <a:ext cx="3742593" cy="292608"/>
          </a:xfrm>
          <a:prstGeom prst="rect">
            <a:avLst/>
          </a:prstGeom>
          <a:noFill/>
        </p:spPr>
        <p:txBody>
          <a:bodyPr wrap="square" lIns="0" tIns="0" rIns="0" bIns="0" rtlCol="0" anchor="ctr"/>
          <a:lstStyle/>
          <a:p>
            <a:pPr marL="0" indent="0">
              <a:buNone/>
            </a:pPr>
            <a:r>
              <a:rPr lang="en-US" sz="1400" b="1" dirty="0">
                <a:solidFill>
                  <a:srgbClr val="22D3EE"/>
                </a:solidFill>
              </a:rPr>
              <a:t>Suitable when high throughput is required </a:t>
            </a:r>
            <a:endParaRPr lang="en-US" sz="1400" dirty="0"/>
          </a:p>
        </p:txBody>
      </p:sp>
      <p:sp>
        <p:nvSpPr>
          <p:cNvPr id="12" name="Text 10"/>
          <p:cNvSpPr/>
          <p:nvPr/>
        </p:nvSpPr>
        <p:spPr>
          <a:xfrm>
            <a:off x="6095847" y="1310689"/>
            <a:ext cx="6060112" cy="347472"/>
          </a:xfrm>
          <a:prstGeom prst="rect">
            <a:avLst/>
          </a:prstGeom>
          <a:noFill/>
        </p:spPr>
        <p:txBody>
          <a:bodyPr wrap="square" lIns="0" tIns="0" rIns="0" bIns="0" rtlCol="0" anchor="ctr"/>
          <a:lstStyle/>
          <a:p>
            <a:pPr marL="0" indent="0">
              <a:buNone/>
            </a:pPr>
            <a:r>
              <a:rPr lang="en-US" sz="2300" b="1" dirty="0">
                <a:solidFill>
                  <a:srgbClr val="FBBF24"/>
                </a:solidFill>
              </a:rPr>
              <a:t>Sequential / Resource – Sharing Architecture</a:t>
            </a:r>
            <a:endParaRPr lang="en-US" sz="2300" dirty="0"/>
          </a:p>
        </p:txBody>
      </p:sp>
      <p:sp>
        <p:nvSpPr>
          <p:cNvPr id="13" name="Text 11"/>
          <p:cNvSpPr/>
          <p:nvPr/>
        </p:nvSpPr>
        <p:spPr>
          <a:xfrm>
            <a:off x="7726680" y="2057400"/>
            <a:ext cx="1234440" cy="530352"/>
          </a:xfrm>
          <a:prstGeom prst="rect">
            <a:avLst/>
          </a:prstGeom>
          <a:solidFill>
            <a:srgbClr val="162032"/>
          </a:solidFill>
          <a:ln>
            <a:solidFill>
              <a:srgbClr val="FBBF24"/>
            </a:solidFill>
          </a:ln>
        </p:spPr>
        <p:txBody>
          <a:bodyPr wrap="square" lIns="0" tIns="0" rIns="0" bIns="0" rtlCol="0" anchor="ctr"/>
          <a:lstStyle/>
          <a:p>
            <a:pPr marL="0" indent="0" algn="ctr">
              <a:buNone/>
            </a:pPr>
            <a:r>
              <a:rPr lang="en-US" sz="1600" b="1" dirty="0">
                <a:solidFill>
                  <a:srgbClr val="FFFFFF"/>
                </a:solidFill>
              </a:rPr>
              <a:t>1 MAC</a:t>
            </a:r>
            <a:endParaRPr lang="en-US" sz="1600" dirty="0"/>
          </a:p>
        </p:txBody>
      </p:sp>
      <p:sp>
        <p:nvSpPr>
          <p:cNvPr id="14" name="Shape 12"/>
          <p:cNvSpPr/>
          <p:nvPr/>
        </p:nvSpPr>
        <p:spPr>
          <a:xfrm>
            <a:off x="9098280" y="2322576"/>
            <a:ext cx="960120" cy="0"/>
          </a:xfrm>
          <a:prstGeom prst="line">
            <a:avLst/>
          </a:prstGeom>
          <a:noFill/>
          <a:ln w="25400">
            <a:solidFill>
              <a:srgbClr val="FBBF24"/>
            </a:solidFill>
            <a:prstDash val="solid"/>
            <a:tailEnd type="triangle"/>
          </a:ln>
        </p:spPr>
        <p:txBody>
          <a:bodyPr/>
          <a:lstStyle/>
          <a:p>
            <a:endParaRPr lang="en-US"/>
          </a:p>
        </p:txBody>
      </p:sp>
      <p:sp>
        <p:nvSpPr>
          <p:cNvPr id="15" name="Text 13"/>
          <p:cNvSpPr/>
          <p:nvPr/>
        </p:nvSpPr>
        <p:spPr>
          <a:xfrm>
            <a:off x="10195560" y="1901952"/>
            <a:ext cx="1005840" cy="914400"/>
          </a:xfrm>
          <a:prstGeom prst="rect">
            <a:avLst/>
          </a:prstGeom>
          <a:solidFill>
            <a:srgbClr val="0F172A"/>
          </a:solidFill>
          <a:ln>
            <a:solidFill>
              <a:srgbClr val="FBBF24"/>
            </a:solidFill>
          </a:ln>
        </p:spPr>
        <p:txBody>
          <a:bodyPr wrap="square" lIns="508" tIns="508" rIns="508" bIns="508" rtlCol="0" anchor="ctr">
            <a:normAutofit/>
          </a:bodyPr>
          <a:lstStyle/>
          <a:p>
            <a:pPr marL="0" indent="0" algn="ctr">
              <a:buNone/>
            </a:pPr>
            <a:r>
              <a:rPr lang="en-US" sz="1250" b="1" dirty="0">
                <a:solidFill>
                  <a:srgbClr val="FFFFFF"/>
                </a:solidFill>
              </a:rPr>
              <a:t>c00 → c01</a:t>
            </a:r>
            <a:endParaRPr lang="en-US" sz="1250" dirty="0"/>
          </a:p>
          <a:p>
            <a:pPr marL="0" indent="0" algn="ctr">
              <a:buNone/>
            </a:pPr>
            <a:r>
              <a:rPr lang="en-US" sz="1250" b="1" dirty="0">
                <a:solidFill>
                  <a:srgbClr val="FFFFFF"/>
                </a:solidFill>
              </a:rPr>
              <a:t>→ c10 → c11</a:t>
            </a:r>
            <a:endParaRPr lang="en-US" sz="1250" dirty="0"/>
          </a:p>
        </p:txBody>
      </p:sp>
      <p:sp>
        <p:nvSpPr>
          <p:cNvPr id="16" name="Text 14"/>
          <p:cNvSpPr/>
          <p:nvPr/>
        </p:nvSpPr>
        <p:spPr>
          <a:xfrm>
            <a:off x="7015660" y="3225620"/>
            <a:ext cx="2706476" cy="1310616"/>
          </a:xfrm>
          <a:prstGeom prst="rect">
            <a:avLst/>
          </a:prstGeom>
          <a:noFill/>
        </p:spPr>
        <p:txBody>
          <a:bodyPr wrap="square" lIns="508" tIns="508" rIns="508" bIns="508" rtlCol="0" anchor="ctr">
            <a:normAutofit/>
          </a:bodyPr>
          <a:lstStyle/>
          <a:p>
            <a:r>
              <a:rPr lang="en-US" sz="1400" b="1" dirty="0">
                <a:solidFill>
                  <a:schemeClr val="bg1"/>
                </a:solidFill>
              </a:rPr>
              <a:t>Advantages:</a:t>
            </a:r>
            <a:endParaRPr lang="en-US" sz="1400" dirty="0">
              <a:solidFill>
                <a:schemeClr val="bg1"/>
              </a:solidFill>
            </a:endParaRPr>
          </a:p>
          <a:p>
            <a:r>
              <a:rPr lang="en-US" sz="1400" dirty="0">
                <a:solidFill>
                  <a:schemeClr val="bg1"/>
                </a:solidFill>
              </a:rPr>
              <a:t>Lower hardware resource usage </a:t>
            </a:r>
            <a:endParaRPr lang="en-US" sz="1400" dirty="0">
              <a:solidFill>
                <a:schemeClr val="bg1"/>
              </a:solidFill>
            </a:endParaRPr>
          </a:p>
          <a:p>
            <a:r>
              <a:rPr lang="en-US" sz="1400" dirty="0">
                <a:solidFill>
                  <a:schemeClr val="bg1"/>
                </a:solidFill>
              </a:rPr>
              <a:t>Smaller implementation area </a:t>
            </a:r>
            <a:endParaRPr lang="en-US" sz="1400" dirty="0">
              <a:solidFill>
                <a:schemeClr val="bg1"/>
              </a:solidFill>
            </a:endParaRPr>
          </a:p>
          <a:p>
            <a:r>
              <a:rPr lang="en-US" sz="1400" b="1" dirty="0">
                <a:solidFill>
                  <a:schemeClr val="bg1"/>
                </a:solidFill>
              </a:rPr>
              <a:t>Disadvantages:</a:t>
            </a:r>
            <a:endParaRPr lang="en-US" sz="1400" dirty="0">
              <a:solidFill>
                <a:schemeClr val="bg1"/>
              </a:solidFill>
            </a:endParaRPr>
          </a:p>
          <a:p>
            <a:r>
              <a:rPr lang="en-US" sz="1400" dirty="0">
                <a:solidFill>
                  <a:schemeClr val="bg1"/>
                </a:solidFill>
              </a:rPr>
              <a:t>Higher latency </a:t>
            </a:r>
            <a:endParaRPr lang="en-US" sz="1400" dirty="0">
              <a:solidFill>
                <a:schemeClr val="bg1"/>
              </a:solidFill>
            </a:endParaRPr>
          </a:p>
          <a:p>
            <a:r>
              <a:rPr lang="en-US" sz="1400" dirty="0">
                <a:solidFill>
                  <a:schemeClr val="bg1"/>
                </a:solidFill>
              </a:rPr>
              <a:t>More complex control FSM</a:t>
            </a:r>
            <a:endParaRPr lang="en-US" sz="1400" dirty="0">
              <a:solidFill>
                <a:schemeClr val="bg1"/>
              </a:solidFill>
            </a:endParaRPr>
          </a:p>
        </p:txBody>
      </p:sp>
      <p:sp>
        <p:nvSpPr>
          <p:cNvPr id="17" name="Text 15"/>
          <p:cNvSpPr/>
          <p:nvPr/>
        </p:nvSpPr>
        <p:spPr>
          <a:xfrm>
            <a:off x="6876287" y="4770071"/>
            <a:ext cx="4243995" cy="292608"/>
          </a:xfrm>
          <a:prstGeom prst="rect">
            <a:avLst/>
          </a:prstGeom>
          <a:noFill/>
        </p:spPr>
        <p:txBody>
          <a:bodyPr wrap="square" lIns="0" tIns="0" rIns="0" bIns="0" rtlCol="0" anchor="ctr"/>
          <a:lstStyle/>
          <a:p>
            <a:pPr marL="0" indent="0">
              <a:buNone/>
            </a:pPr>
            <a:r>
              <a:rPr lang="en-US" sz="1400" b="1" dirty="0">
                <a:solidFill>
                  <a:srgbClr val="FBBF24"/>
                </a:solidFill>
              </a:rPr>
              <a:t>Suitable for small FPGAs or area-optimized designs </a:t>
            </a:r>
            <a:endParaRPr lang="en-US" sz="1400" dirty="0"/>
          </a:p>
        </p:txBody>
      </p:sp>
      <p:sp>
        <p:nvSpPr>
          <p:cNvPr id="18" name="Shape 16"/>
          <p:cNvSpPr/>
          <p:nvPr/>
        </p:nvSpPr>
        <p:spPr>
          <a:xfrm>
            <a:off x="5989320" y="1051560"/>
            <a:ext cx="0" cy="4572000"/>
          </a:xfrm>
          <a:prstGeom prst="line">
            <a:avLst/>
          </a:prstGeom>
          <a:noFill/>
          <a:ln w="12700">
            <a:solidFill>
              <a:srgbClr val="334155"/>
            </a:solidFill>
            <a:prstDash val="solid"/>
          </a:ln>
        </p:spPr>
        <p:txBody>
          <a:bodyPr/>
          <a:lstStyle/>
          <a:p>
            <a:endParaRPr lang="en-US"/>
          </a:p>
        </p:txBody>
      </p:sp>
      <p:sp>
        <p:nvSpPr>
          <p:cNvPr id="20" name="Text 18"/>
          <p:cNvSpPr/>
          <p:nvPr/>
        </p:nvSpPr>
        <p:spPr>
          <a:xfrm>
            <a:off x="566928" y="6528816"/>
            <a:ext cx="4480560" cy="201168"/>
          </a:xfrm>
          <a:prstGeom prst="rect">
            <a:avLst/>
          </a:prstGeom>
          <a:noFill/>
        </p:spPr>
        <p:txBody>
          <a:bodyPr wrap="square" lIns="0" tIns="0" rIns="0" bIns="0" rtlCol="0" anchor="ctr"/>
          <a:lstStyle/>
          <a:p>
            <a:pPr marL="0" indent="0">
              <a:buNone/>
            </a:pPr>
            <a:r>
              <a:rPr lang="en-US" sz="850" dirty="0">
                <a:solidFill>
                  <a:srgbClr val="94A3B8"/>
                </a:solidFill>
              </a:rPr>
              <a:t>FAP 201 • FPGA Matrix Multiplier</a:t>
            </a:r>
            <a:endParaRPr lang="en-US" sz="850" dirty="0"/>
          </a:p>
        </p:txBody>
      </p:sp>
      <p:sp>
        <p:nvSpPr>
          <p:cNvPr id="21" name="Text 19"/>
          <p:cNvSpPr/>
          <p:nvPr/>
        </p:nvSpPr>
        <p:spPr>
          <a:xfrm>
            <a:off x="11356848" y="6473952"/>
            <a:ext cx="320040" cy="201168"/>
          </a:xfrm>
          <a:prstGeom prst="rect">
            <a:avLst/>
          </a:prstGeom>
          <a:noFill/>
        </p:spPr>
        <p:txBody>
          <a:bodyPr wrap="square" lIns="0" tIns="0" rIns="0" bIns="0" rtlCol="0" anchor="ctr"/>
          <a:lstStyle/>
          <a:p>
            <a:pPr marL="0" indent="0" algn="r">
              <a:buNone/>
            </a:pPr>
            <a:r>
              <a:rPr lang="en-US" sz="850" dirty="0">
                <a:solidFill>
                  <a:srgbClr val="94A3B8"/>
                </a:solidFill>
              </a:rPr>
              <a:t>08</a:t>
            </a:r>
            <a:endParaRPr lang="en-US" sz="850" dirty="0"/>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7. Proposed Verilog Design</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09</a:t>
            </a:r>
            <a:endParaRPr sz="825" b="0">
              <a:solidFill>
                <a:srgbClr val="9BA7BA"/>
              </a:solidFill>
              <a:latin typeface="Arial" panose="020B0604020202020204"/>
              <a:ea typeface="Arial" panose="020B0604020202020204"/>
              <a:cs typeface="Arial" panose="020B0604020202020204"/>
            </a:endParaRPr>
          </a:p>
        </p:txBody>
      </p:sp>
      <p:sp>
        <p:nvSpPr>
          <p:cNvPr id="6" name="Rounded Rectangle 5"/>
          <p:cNvSpPr>
            <a:spLocks noGrp="1"/>
          </p:cNvSpPr>
          <p:nvPr/>
        </p:nvSpPr>
        <p:spPr>
          <a:xfrm>
            <a:off x="857250" y="1257300"/>
            <a:ext cx="2038350" cy="419100"/>
          </a:xfrm>
          <a:prstGeom prst="roundRect">
            <a:avLst>
              <a:gd name="adj" fmla="val 6818"/>
            </a:avLst>
          </a:prstGeom>
          <a:solidFill>
            <a:srgbClr val="1B2739"/>
          </a:solidFill>
          <a:ln w="19050">
            <a:solidFill>
              <a:srgbClr val="25C4DD"/>
            </a:solidFill>
            <a:prstDash val="solid"/>
          </a:ln>
        </p:spPr>
      </p:sp>
      <p:sp>
        <p:nvSpPr>
          <p:cNvPr id="7" name="Rectangle 6"/>
          <p:cNvSpPr>
            <a:spLocks noGrp="1"/>
          </p:cNvSpPr>
          <p:nvPr/>
        </p:nvSpPr>
        <p:spPr>
          <a:xfrm>
            <a:off x="895350" y="1285875"/>
            <a:ext cx="1962150" cy="361950"/>
          </a:xfrm>
          <a:prstGeom prst="rect">
            <a:avLst/>
          </a:prstGeom>
          <a:noFill/>
          <a:ln w="0">
            <a:noFill/>
            <a:prstDash val="solid"/>
          </a:ln>
        </p:spPr>
        <p:txBody>
          <a:bodyPr wrap="square" lIns="38100" tIns="19050" rIns="38100" bIns="19050" anchor="ctr">
            <a:normAutofit/>
          </a:bodyPr>
          <a:lstStyle/>
          <a:p>
            <a:pPr algn="ctr">
              <a:lnSpc>
                <a:spcPct val="100000"/>
              </a:lnSpc>
              <a:buNone/>
              <a:defRPr sz="1725" b="1">
                <a:solidFill>
                  <a:srgbClr val="E6E9EF"/>
                </a:solidFill>
                <a:latin typeface="Arial" panose="020B0604020202020204"/>
                <a:ea typeface="Arial" panose="020B0604020202020204"/>
                <a:cs typeface="Arial" panose="020B0604020202020204"/>
              </a:defRPr>
            </a:pPr>
            <a:r>
              <a:rPr sz="1725" b="1">
                <a:solidFill>
                  <a:srgbClr val="E6E9EF"/>
                </a:solidFill>
                <a:latin typeface="Arial" panose="020B0604020202020204"/>
                <a:ea typeface="Arial" panose="020B0604020202020204"/>
                <a:cs typeface="Arial" panose="020B0604020202020204"/>
              </a:rPr>
              <a:t>matrix_mult_2x2</a:t>
            </a:r>
            <a:endParaRPr sz="1725" b="1">
              <a:solidFill>
                <a:srgbClr val="E6E9EF"/>
              </a:solidFill>
              <a:latin typeface="Arial" panose="020B0604020202020204"/>
              <a:ea typeface="Arial" panose="020B0604020202020204"/>
              <a:cs typeface="Arial" panose="020B0604020202020204"/>
            </a:endParaRPr>
          </a:p>
        </p:txBody>
      </p:sp>
      <p:sp>
        <p:nvSpPr>
          <p:cNvPr id="8" name="Right Arrow 7"/>
          <p:cNvSpPr>
            <a:spLocks noGrp="1"/>
          </p:cNvSpPr>
          <p:nvPr/>
        </p:nvSpPr>
        <p:spPr>
          <a:xfrm>
            <a:off x="3000375" y="1390650"/>
            <a:ext cx="933450" cy="142875"/>
          </a:xfrm>
          <a:prstGeom prst="rightArrow">
            <a:avLst/>
          </a:prstGeom>
          <a:solidFill>
            <a:srgbClr val="25C4DD"/>
          </a:solidFill>
          <a:ln w="0">
            <a:solidFill>
              <a:srgbClr val="25C4DD"/>
            </a:solidFill>
            <a:prstDash val="solid"/>
          </a:ln>
        </p:spPr>
      </p:sp>
      <p:sp>
        <p:nvSpPr>
          <p:cNvPr id="9" name="Rounded Rectangle 8"/>
          <p:cNvSpPr>
            <a:spLocks noGrp="1"/>
          </p:cNvSpPr>
          <p:nvPr/>
        </p:nvSpPr>
        <p:spPr>
          <a:xfrm>
            <a:off x="4057650" y="1257300"/>
            <a:ext cx="1428750" cy="419100"/>
          </a:xfrm>
          <a:prstGeom prst="roundRect">
            <a:avLst>
              <a:gd name="adj" fmla="val 6818"/>
            </a:avLst>
          </a:prstGeom>
          <a:solidFill>
            <a:srgbClr val="1B2739"/>
          </a:solidFill>
          <a:ln w="19050">
            <a:solidFill>
              <a:srgbClr val="25C4DD"/>
            </a:solidFill>
            <a:prstDash val="solid"/>
          </a:ln>
        </p:spPr>
      </p:sp>
      <p:sp>
        <p:nvSpPr>
          <p:cNvPr id="10" name="Rectangle 9"/>
          <p:cNvSpPr>
            <a:spLocks noGrp="1"/>
          </p:cNvSpPr>
          <p:nvPr/>
        </p:nvSpPr>
        <p:spPr>
          <a:xfrm>
            <a:off x="4095750" y="1285875"/>
            <a:ext cx="1352550" cy="361950"/>
          </a:xfrm>
          <a:prstGeom prst="rect">
            <a:avLst/>
          </a:prstGeom>
          <a:noFill/>
          <a:ln w="0">
            <a:noFill/>
            <a:prstDash val="solid"/>
          </a:ln>
        </p:spPr>
        <p:txBody>
          <a:bodyPr wrap="square" lIns="38100" tIns="19050" rIns="38100" bIns="19050" anchor="ctr">
            <a:normAutofit/>
          </a:bodyPr>
          <a:lstStyle/>
          <a:p>
            <a:pPr algn="ctr">
              <a:lnSpc>
                <a:spcPct val="100000"/>
              </a:lnSpc>
              <a:buNone/>
              <a:defRPr sz="1650" b="1">
                <a:solidFill>
                  <a:srgbClr val="E6E9EF"/>
                </a:solidFill>
                <a:latin typeface="Arial" panose="020B0604020202020204"/>
                <a:ea typeface="Arial" panose="020B0604020202020204"/>
                <a:cs typeface="Arial" panose="020B0604020202020204"/>
              </a:defRPr>
            </a:pPr>
            <a:r>
              <a:rPr sz="1650" b="1">
                <a:solidFill>
                  <a:srgbClr val="E6E9EF"/>
                </a:solidFill>
                <a:latin typeface="Arial" panose="020B0604020202020204"/>
                <a:ea typeface="Arial" panose="020B0604020202020204"/>
                <a:cs typeface="Arial" panose="020B0604020202020204"/>
              </a:rPr>
              <a:t>pe_mac</a:t>
            </a:r>
            <a:endParaRPr sz="1650" b="1">
              <a:solidFill>
                <a:srgbClr val="E6E9EF"/>
              </a:solidFill>
              <a:latin typeface="Arial" panose="020B0604020202020204"/>
              <a:ea typeface="Arial" panose="020B0604020202020204"/>
              <a:cs typeface="Arial" panose="020B0604020202020204"/>
            </a:endParaRPr>
          </a:p>
        </p:txBody>
      </p:sp>
      <p:sp>
        <p:nvSpPr>
          <p:cNvPr id="11" name="Right Arrow 10"/>
          <p:cNvSpPr>
            <a:spLocks noGrp="1"/>
          </p:cNvSpPr>
          <p:nvPr/>
        </p:nvSpPr>
        <p:spPr>
          <a:xfrm>
            <a:off x="5619750" y="1390650"/>
            <a:ext cx="933450" cy="142875"/>
          </a:xfrm>
          <a:prstGeom prst="rightArrow">
            <a:avLst/>
          </a:prstGeom>
          <a:solidFill>
            <a:srgbClr val="25C4DD"/>
          </a:solidFill>
          <a:ln w="0">
            <a:solidFill>
              <a:srgbClr val="25C4DD"/>
            </a:solidFill>
            <a:prstDash val="solid"/>
          </a:ln>
        </p:spPr>
      </p:sp>
      <p:sp>
        <p:nvSpPr>
          <p:cNvPr id="12" name="Rounded Rectangle 11"/>
          <p:cNvSpPr>
            <a:spLocks noGrp="1"/>
          </p:cNvSpPr>
          <p:nvPr/>
        </p:nvSpPr>
        <p:spPr>
          <a:xfrm>
            <a:off x="6667500" y="1257300"/>
            <a:ext cx="1428750" cy="419100"/>
          </a:xfrm>
          <a:prstGeom prst="roundRect">
            <a:avLst>
              <a:gd name="adj" fmla="val 6818"/>
            </a:avLst>
          </a:prstGeom>
          <a:solidFill>
            <a:srgbClr val="1B2739"/>
          </a:solidFill>
          <a:ln w="19050">
            <a:solidFill>
              <a:srgbClr val="38D6A2"/>
            </a:solidFill>
            <a:prstDash val="solid"/>
          </a:ln>
        </p:spPr>
      </p:sp>
      <p:sp>
        <p:nvSpPr>
          <p:cNvPr id="13" name="Rectangle 12"/>
          <p:cNvSpPr>
            <a:spLocks noGrp="1"/>
          </p:cNvSpPr>
          <p:nvPr/>
        </p:nvSpPr>
        <p:spPr>
          <a:xfrm>
            <a:off x="6705600" y="1285875"/>
            <a:ext cx="1352550" cy="361950"/>
          </a:xfrm>
          <a:prstGeom prst="rect">
            <a:avLst/>
          </a:prstGeom>
          <a:noFill/>
          <a:ln w="0">
            <a:noFill/>
            <a:prstDash val="solid"/>
          </a:ln>
        </p:spPr>
        <p:txBody>
          <a:bodyPr wrap="square" lIns="38100" tIns="19050" rIns="38100" bIns="19050" anchor="ctr">
            <a:normAutofit/>
          </a:bodyPr>
          <a:lstStyle/>
          <a:p>
            <a:pPr algn="ctr">
              <a:lnSpc>
                <a:spcPct val="100000"/>
              </a:lnSpc>
              <a:buNone/>
              <a:defRPr sz="1650" b="1">
                <a:solidFill>
                  <a:srgbClr val="E6E9EF"/>
                </a:solidFill>
                <a:latin typeface="Arial" panose="020B0604020202020204"/>
                <a:ea typeface="Arial" panose="020B0604020202020204"/>
                <a:cs typeface="Arial" panose="020B0604020202020204"/>
              </a:defRPr>
            </a:pPr>
            <a:r>
              <a:rPr sz="1650" b="1">
                <a:solidFill>
                  <a:srgbClr val="E6E9EF"/>
                </a:solidFill>
                <a:latin typeface="Arial" panose="020B0604020202020204"/>
                <a:ea typeface="Arial" panose="020B0604020202020204"/>
                <a:cs typeface="Arial" panose="020B0604020202020204"/>
              </a:rPr>
              <a:t>out_regs</a:t>
            </a:r>
            <a:endParaRPr sz="1650" b="1">
              <a:solidFill>
                <a:srgbClr val="E6E9EF"/>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857250" y="2114550"/>
            <a:ext cx="16192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25C4DD"/>
                </a:solidFill>
                <a:latin typeface="Arial" panose="020B0604020202020204"/>
                <a:ea typeface="Arial" panose="020B0604020202020204"/>
                <a:cs typeface="Arial" panose="020B0604020202020204"/>
              </a:defRPr>
            </a:pPr>
            <a:r>
              <a:rPr sz="1275" b="0">
                <a:solidFill>
                  <a:srgbClr val="25C4DD"/>
                </a:solidFill>
                <a:latin typeface="Arial" panose="020B0604020202020204"/>
                <a:ea typeface="Arial" panose="020B0604020202020204"/>
                <a:cs typeface="Arial" panose="020B0604020202020204"/>
              </a:rPr>
              <a:t>clk, rst_n</a:t>
            </a:r>
            <a:endParaRPr sz="1275" b="0">
              <a:solidFill>
                <a:srgbClr val="25C4DD"/>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857250" y="2533650"/>
            <a:ext cx="16192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25C4DD"/>
                </a:solidFill>
                <a:latin typeface="Arial" panose="020B0604020202020204"/>
                <a:ea typeface="Arial" panose="020B0604020202020204"/>
                <a:cs typeface="Arial" panose="020B0604020202020204"/>
              </a:defRPr>
            </a:pPr>
            <a:r>
              <a:rPr sz="1275" b="0">
                <a:solidFill>
                  <a:srgbClr val="25C4DD"/>
                </a:solidFill>
                <a:latin typeface="Arial" panose="020B0604020202020204"/>
                <a:ea typeface="Arial" panose="020B0604020202020204"/>
                <a:cs typeface="Arial" panose="020B0604020202020204"/>
              </a:rPr>
              <a:t>start</a:t>
            </a:r>
            <a:endParaRPr sz="1275" b="0">
              <a:solidFill>
                <a:srgbClr val="25C4DD"/>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857250" y="2952750"/>
            <a:ext cx="18097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25C4DD"/>
                </a:solidFill>
                <a:latin typeface="Arial" panose="020B0604020202020204"/>
                <a:ea typeface="Arial" panose="020B0604020202020204"/>
                <a:cs typeface="Arial" panose="020B0604020202020204"/>
              </a:defRPr>
            </a:pPr>
            <a:r>
              <a:rPr sz="1275" b="0">
                <a:solidFill>
                  <a:srgbClr val="25C4DD"/>
                </a:solidFill>
                <a:latin typeface="Arial" panose="020B0604020202020204"/>
                <a:ea typeface="Arial" panose="020B0604020202020204"/>
                <a:cs typeface="Arial" panose="020B0604020202020204"/>
              </a:rPr>
              <a:t>signed [7:0] A/B</a:t>
            </a:r>
            <a:endParaRPr sz="1275" b="0">
              <a:solidFill>
                <a:srgbClr val="25C4DD"/>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857250" y="3371850"/>
            <a:ext cx="18097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38D6A2"/>
                </a:solidFill>
                <a:latin typeface="Arial" panose="020B0604020202020204"/>
                <a:ea typeface="Arial" panose="020B0604020202020204"/>
                <a:cs typeface="Arial" panose="020B0604020202020204"/>
              </a:defRPr>
            </a:pPr>
            <a:r>
              <a:rPr sz="1275" b="0">
                <a:solidFill>
                  <a:srgbClr val="38D6A2"/>
                </a:solidFill>
                <a:latin typeface="Arial" panose="020B0604020202020204"/>
                <a:ea typeface="Arial" panose="020B0604020202020204"/>
                <a:cs typeface="Arial" panose="020B0604020202020204"/>
              </a:rPr>
              <a:t>signed [16:0] C</a:t>
            </a:r>
            <a:endParaRPr sz="1275" b="0">
              <a:solidFill>
                <a:srgbClr val="38D6A2"/>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857250" y="3790950"/>
            <a:ext cx="1809750" cy="266700"/>
          </a:xfrm>
          <a:prstGeom prst="rect">
            <a:avLst/>
          </a:prstGeom>
          <a:noFill/>
          <a:ln w="0">
            <a:noFill/>
            <a:prstDash val="solid"/>
          </a:ln>
        </p:spPr>
        <p:txBody>
          <a:bodyPr wrap="square" lIns="38100" tIns="19050" rIns="38100" bIns="19050" anchor="ctr">
            <a:normAutofit/>
          </a:bodyPr>
          <a:lstStyle/>
          <a:p>
            <a:pPr algn="l">
              <a:lnSpc>
                <a:spcPct val="100000"/>
              </a:lnSpc>
              <a:buNone/>
              <a:defRPr sz="1275" b="0">
                <a:solidFill>
                  <a:srgbClr val="38D6A2"/>
                </a:solidFill>
                <a:latin typeface="Arial" panose="020B0604020202020204"/>
                <a:ea typeface="Arial" panose="020B0604020202020204"/>
                <a:cs typeface="Arial" panose="020B0604020202020204"/>
              </a:defRPr>
            </a:pPr>
            <a:r>
              <a:rPr sz="1275" b="0">
                <a:solidFill>
                  <a:srgbClr val="38D6A2"/>
                </a:solidFill>
                <a:latin typeface="Arial" panose="020B0604020202020204"/>
                <a:ea typeface="Arial" panose="020B0604020202020204"/>
                <a:cs typeface="Arial" panose="020B0604020202020204"/>
              </a:rPr>
              <a:t>done / valid</a:t>
            </a:r>
            <a:endParaRPr sz="1275" b="0">
              <a:solidFill>
                <a:srgbClr val="38D6A2"/>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3476625" y="2057400"/>
            <a:ext cx="2952750" cy="32385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Core Column Processing</a:t>
            </a:r>
            <a:endParaRPr sz="1500" b="1">
              <a:solidFill>
                <a:srgbClr val="F8FAFC"/>
              </a:solidFill>
              <a:latin typeface="Arial" panose="020B0604020202020204"/>
              <a:ea typeface="Arial" panose="020B0604020202020204"/>
              <a:cs typeface="Arial" panose="020B0604020202020204"/>
            </a:endParaRPr>
          </a:p>
        </p:txBody>
      </p:sp>
      <p:sp>
        <p:nvSpPr>
          <p:cNvPr id="20" name="Rounded Rectangle 19"/>
          <p:cNvSpPr>
            <a:spLocks noGrp="1"/>
          </p:cNvSpPr>
          <p:nvPr/>
        </p:nvSpPr>
        <p:spPr>
          <a:xfrm>
            <a:off x="3476625" y="2476500"/>
            <a:ext cx="4095750" cy="914400"/>
          </a:xfrm>
          <a:prstGeom prst="roundRect">
            <a:avLst>
              <a:gd name="adj" fmla="val 4167"/>
            </a:avLst>
          </a:prstGeom>
          <a:solidFill>
            <a:srgbClr val="111318"/>
          </a:solidFill>
          <a:ln w="9525">
            <a:solidFill>
              <a:srgbClr val="334155"/>
            </a:solidFill>
            <a:prstDash val="solid"/>
          </a:ln>
        </p:spPr>
      </p:sp>
      <p:sp>
        <p:nvSpPr>
          <p:cNvPr id="21" name="Rounded Rectangle 20"/>
          <p:cNvSpPr>
            <a:spLocks noGrp="1"/>
          </p:cNvSpPr>
          <p:nvPr/>
        </p:nvSpPr>
        <p:spPr>
          <a:xfrm>
            <a:off x="3476625" y="2476500"/>
            <a:ext cx="4095750" cy="247650"/>
          </a:xfrm>
          <a:prstGeom prst="roundRect">
            <a:avLst>
              <a:gd name="adj" fmla="val 15385"/>
            </a:avLst>
          </a:prstGeom>
          <a:solidFill>
            <a:srgbClr val="1B2739"/>
          </a:solidFill>
          <a:ln w="0">
            <a:solidFill>
              <a:srgbClr val="334155"/>
            </a:solidFill>
            <a:prstDash val="solid"/>
          </a:ln>
        </p:spPr>
      </p:sp>
      <p:sp>
        <p:nvSpPr>
          <p:cNvPr id="22" name="Rectangle 21"/>
          <p:cNvSpPr>
            <a:spLocks noGrp="1"/>
          </p:cNvSpPr>
          <p:nvPr/>
        </p:nvSpPr>
        <p:spPr>
          <a:xfrm>
            <a:off x="3571875" y="2505075"/>
            <a:ext cx="3905250" cy="190500"/>
          </a:xfrm>
          <a:prstGeom prst="rect">
            <a:avLst/>
          </a:prstGeom>
          <a:noFill/>
          <a:ln w="0">
            <a:noFill/>
            <a:prstDash val="solid"/>
          </a:ln>
        </p:spPr>
        <p:txBody>
          <a:bodyPr wrap="square" lIns="38100" tIns="19050" rIns="38100" bIns="19050" anchor="ctr">
            <a:normAutofit/>
          </a:bodyPr>
          <a:lstStyle/>
          <a:p>
            <a:pPr algn="l">
              <a:lnSpc>
                <a:spcPct val="100000"/>
              </a:lnSpc>
              <a:buNone/>
              <a:defRPr sz="900" b="1">
                <a:solidFill>
                  <a:srgbClr val="25C4DD"/>
                </a:solidFill>
                <a:latin typeface="Arial" panose="020B0604020202020204"/>
                <a:ea typeface="Arial" panose="020B0604020202020204"/>
                <a:cs typeface="Arial" panose="020B0604020202020204"/>
              </a:defRPr>
            </a:pPr>
            <a:r>
              <a:rPr sz="900" b="1">
                <a:solidFill>
                  <a:srgbClr val="25C4DD"/>
                </a:solidFill>
                <a:latin typeface="Arial" panose="020B0604020202020204"/>
                <a:ea typeface="Arial" panose="020B0604020202020204"/>
                <a:cs typeface="Arial" panose="020B0604020202020204"/>
              </a:rPr>
              <a:t>Multiply–Accumulate</a:t>
            </a:r>
            <a:endParaRPr sz="900" b="1">
              <a:solidFill>
                <a:srgbClr val="25C4DD"/>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3590925" y="2771775"/>
            <a:ext cx="3867150" cy="542925"/>
          </a:xfrm>
          <a:prstGeom prst="rect">
            <a:avLst/>
          </a:prstGeom>
          <a:noFill/>
          <a:ln w="0">
            <a:noFill/>
            <a:prstDash val="solid"/>
          </a:ln>
        </p:spPr>
        <p:txBody>
          <a:bodyPr wrap="square" lIns="38100" tIns="19050" rIns="38100" bIns="19050" anchor="t">
            <a:normAutofit fontScale="97887" lnSpcReduction="10000"/>
          </a:bodyPr>
          <a:lstStyle/>
          <a:p>
            <a:pPr algn="l">
              <a:lnSpc>
                <a:spcPct val="94000"/>
              </a:lnSpc>
              <a:buNone/>
              <a:defRPr sz="1200" b="0">
                <a:solidFill>
                  <a:srgbClr val="E6E9EF"/>
                </a:solidFill>
                <a:latin typeface="Courier New" panose="02070309020205020404"/>
                <a:ea typeface="Courier New" panose="02070309020205020404"/>
                <a:cs typeface="Courier New" panose="02070309020205020404"/>
              </a:defRPr>
            </a:pPr>
            <a:r>
              <a:rPr sz="1200" b="0">
                <a:solidFill>
                  <a:srgbClr val="E6E9EF"/>
                </a:solidFill>
                <a:latin typeface="Courier New" panose="02070309020205020404"/>
                <a:ea typeface="Courier New" panose="02070309020205020404"/>
                <a:cs typeface="Courier New" panose="02070309020205020404"/>
              </a:rPr>
              <a:t>always @(posedge clk)</a:t>
            </a:r>
            <a:endParaRPr sz="1200"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200" b="0">
                <a:solidFill>
                  <a:srgbClr val="E6E9EF"/>
                </a:solidFill>
                <a:latin typeface="Courier New" panose="02070309020205020404"/>
                <a:ea typeface="Courier New" panose="02070309020205020404"/>
                <a:cs typeface="Courier New" panose="02070309020205020404"/>
              </a:defRPr>
            </a:pPr>
            <a:r>
              <a:rPr sz="1200" b="0">
                <a:solidFill>
                  <a:srgbClr val="E6E9EF"/>
                </a:solidFill>
                <a:latin typeface="Courier New" panose="02070309020205020404"/>
                <a:ea typeface="Courier New" panose="02070309020205020404"/>
                <a:cs typeface="Courier New" panose="02070309020205020404"/>
              </a:rPr>
              <a:t>  acc &lt;= acc + a_in * b_in;</a:t>
            </a:r>
            <a:endParaRPr sz="1200"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200" b="0">
                <a:solidFill>
                  <a:srgbClr val="E6E9EF"/>
                </a:solidFill>
                <a:latin typeface="Courier New" panose="02070309020205020404"/>
                <a:ea typeface="Courier New" panose="02070309020205020404"/>
                <a:cs typeface="Courier New" panose="02070309020205020404"/>
              </a:defRPr>
            </a:pPr>
            <a:r>
              <a:rPr sz="1200" b="0">
                <a:solidFill>
                  <a:srgbClr val="E6E9EF"/>
                </a:solidFill>
                <a:latin typeface="Courier New" panose="02070309020205020404"/>
                <a:ea typeface="Courier New" panose="02070309020205020404"/>
                <a:cs typeface="Courier New" panose="02070309020205020404"/>
              </a:rPr>
              <a:t>// After 2 MAC cycles: c_out &lt;= acc</a:t>
            </a:r>
            <a:endParaRPr sz="1200" b="0">
              <a:solidFill>
                <a:srgbClr val="E6E9EF"/>
              </a:solidFill>
              <a:latin typeface="Courier New" panose="02070309020205020404"/>
              <a:ea typeface="Courier New" panose="02070309020205020404"/>
              <a:cs typeface="Courier New" panose="02070309020205020404"/>
            </a:endParaRPr>
          </a:p>
        </p:txBody>
      </p:sp>
      <p:sp>
        <p:nvSpPr>
          <p:cNvPr id="24" name="Rectangle 23"/>
          <p:cNvSpPr>
            <a:spLocks noGrp="1"/>
          </p:cNvSpPr>
          <p:nvPr/>
        </p:nvSpPr>
        <p:spPr>
          <a:xfrm>
            <a:off x="857250" y="4552950"/>
            <a:ext cx="2476500" cy="30480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Suggested File Structure</a:t>
            </a:r>
            <a:endParaRPr sz="1500" b="1">
              <a:solidFill>
                <a:srgbClr val="F8FAFC"/>
              </a:solidFill>
              <a:latin typeface="Arial" panose="020B0604020202020204"/>
              <a:ea typeface="Arial" panose="020B0604020202020204"/>
              <a:cs typeface="Arial" panose="020B0604020202020204"/>
            </a:endParaRPr>
          </a:p>
        </p:txBody>
      </p:sp>
      <p:sp>
        <p:nvSpPr>
          <p:cNvPr id="25" name="Rounded Rectangle 24"/>
          <p:cNvSpPr>
            <a:spLocks noGrp="1"/>
          </p:cNvSpPr>
          <p:nvPr/>
        </p:nvSpPr>
        <p:spPr>
          <a:xfrm>
            <a:off x="857250" y="4895850"/>
            <a:ext cx="3857625" cy="1066800"/>
          </a:xfrm>
          <a:prstGeom prst="roundRect">
            <a:avLst>
              <a:gd name="adj" fmla="val 3571"/>
            </a:avLst>
          </a:prstGeom>
          <a:solidFill>
            <a:srgbClr val="111318"/>
          </a:solidFill>
          <a:ln w="9525">
            <a:solidFill>
              <a:srgbClr val="334155"/>
            </a:solidFill>
            <a:prstDash val="solid"/>
          </a:ln>
        </p:spPr>
      </p:sp>
      <p:sp>
        <p:nvSpPr>
          <p:cNvPr id="26" name="Rounded Rectangle 25"/>
          <p:cNvSpPr>
            <a:spLocks noGrp="1"/>
          </p:cNvSpPr>
          <p:nvPr/>
        </p:nvSpPr>
        <p:spPr>
          <a:xfrm>
            <a:off x="857250" y="4895850"/>
            <a:ext cx="3857625" cy="247650"/>
          </a:xfrm>
          <a:prstGeom prst="roundRect">
            <a:avLst>
              <a:gd name="adj" fmla="val 15385"/>
            </a:avLst>
          </a:prstGeom>
          <a:solidFill>
            <a:srgbClr val="1B2739"/>
          </a:solidFill>
          <a:ln w="0">
            <a:solidFill>
              <a:srgbClr val="334155"/>
            </a:solidFill>
            <a:prstDash val="solid"/>
          </a:ln>
        </p:spPr>
      </p:sp>
      <p:sp>
        <p:nvSpPr>
          <p:cNvPr id="27" name="Rectangle 26"/>
          <p:cNvSpPr>
            <a:spLocks noGrp="1"/>
          </p:cNvSpPr>
          <p:nvPr/>
        </p:nvSpPr>
        <p:spPr>
          <a:xfrm>
            <a:off x="952500" y="4924425"/>
            <a:ext cx="3667125" cy="190500"/>
          </a:xfrm>
          <a:prstGeom prst="rect">
            <a:avLst/>
          </a:prstGeom>
          <a:noFill/>
          <a:ln w="0">
            <a:noFill/>
            <a:prstDash val="solid"/>
          </a:ln>
        </p:spPr>
        <p:txBody>
          <a:bodyPr wrap="square" lIns="38100" tIns="19050" rIns="38100" bIns="19050" anchor="ctr">
            <a:normAutofit/>
          </a:bodyPr>
          <a:lstStyle/>
          <a:p>
            <a:pPr algn="l">
              <a:lnSpc>
                <a:spcPct val="100000"/>
              </a:lnSpc>
              <a:buNone/>
              <a:defRPr sz="900" b="1">
                <a:solidFill>
                  <a:srgbClr val="9BA7BA"/>
                </a:solidFill>
                <a:latin typeface="Arial" panose="020B0604020202020204"/>
                <a:ea typeface="Arial" panose="020B0604020202020204"/>
                <a:cs typeface="Arial" panose="020B0604020202020204"/>
              </a:defRPr>
            </a:pPr>
            <a:r>
              <a:rPr sz="900" b="1">
                <a:solidFill>
                  <a:srgbClr val="9BA7BA"/>
                </a:solidFill>
                <a:latin typeface="Arial" panose="020B0604020202020204"/>
                <a:ea typeface="Arial" panose="020B0604020202020204"/>
                <a:cs typeface="Arial" panose="020B0604020202020204"/>
              </a:rPr>
              <a:t>PROJECT TREE</a:t>
            </a:r>
            <a:endParaRPr sz="900" b="1">
              <a:solidFill>
                <a:srgbClr val="9BA7BA"/>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971550" y="5191125"/>
            <a:ext cx="3629025" cy="695325"/>
          </a:xfrm>
          <a:prstGeom prst="rect">
            <a:avLst/>
          </a:prstGeom>
          <a:noFill/>
          <a:ln w="0">
            <a:noFill/>
            <a:prstDash val="solid"/>
          </a:ln>
        </p:spPr>
        <p:txBody>
          <a:bodyPr wrap="square" lIns="38100" tIns="19050" rIns="38100" bIns="19050" anchor="t">
            <a:normAutofit fontScale="72967" lnSpcReduction="10000"/>
          </a:bodyPr>
          <a:lstStyle/>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src/</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  pe_mac.v</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  matrix_mult_2x2.v</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sim/</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  tb_matrix_mult_2x2.v</a:t>
            </a:r>
            <a:endParaRPr sz="1125" b="0">
              <a:solidFill>
                <a:srgbClr val="E6E9EF"/>
              </a:solidFill>
              <a:latin typeface="Courier New" panose="02070309020205020404"/>
              <a:ea typeface="Courier New" panose="02070309020205020404"/>
              <a:cs typeface="Courier New" panose="02070309020205020404"/>
            </a:endParaRPr>
          </a:p>
          <a:p>
            <a:pPr algn="l">
              <a:lnSpc>
                <a:spcPct val="94000"/>
              </a:lnSpc>
              <a:buNone/>
              <a:defRPr sz="1125" b="0">
                <a:solidFill>
                  <a:srgbClr val="E6E9EF"/>
                </a:solidFill>
                <a:latin typeface="Courier New" panose="02070309020205020404"/>
                <a:ea typeface="Courier New" panose="02070309020205020404"/>
                <a:cs typeface="Courier New" panose="02070309020205020404"/>
              </a:defRPr>
            </a:pPr>
            <a:r>
              <a:rPr sz="1125" b="0">
                <a:solidFill>
                  <a:srgbClr val="E6E9EF"/>
                </a:solidFill>
                <a:latin typeface="Courier New" panose="02070309020205020404"/>
                <a:ea typeface="Courier New" panose="02070309020205020404"/>
                <a:cs typeface="Courier New" panose="02070309020205020404"/>
              </a:rPr>
              <a:t>  gen_vectors.py</a:t>
            </a:r>
            <a:endParaRPr sz="1125" b="0">
              <a:solidFill>
                <a:srgbClr val="E6E9EF"/>
              </a:solidFill>
              <a:latin typeface="Courier New" panose="02070309020205020404"/>
              <a:ea typeface="Courier New" panose="02070309020205020404"/>
              <a:cs typeface="Courier New" panose="02070309020205020404"/>
            </a:endParaRPr>
          </a:p>
        </p:txBody>
      </p:sp>
      <p:sp>
        <p:nvSpPr>
          <p:cNvPr id="33" name="Rectangle 32"/>
          <p:cNvSpPr>
            <a:spLocks noGrp="1"/>
          </p:cNvSpPr>
          <p:nvPr/>
        </p:nvSpPr>
        <p:spPr>
          <a:xfrm>
            <a:off x="5143500" y="5095875"/>
            <a:ext cx="6238875" cy="609600"/>
          </a:xfrm>
          <a:prstGeom prst="rect">
            <a:avLst/>
          </a:prstGeom>
          <a:noFill/>
          <a:ln w="0">
            <a:noFill/>
            <a:prstDash val="solid"/>
          </a:ln>
        </p:spPr>
        <p:txBody>
          <a:bodyPr wrap="square" lIns="38100" tIns="19050" rIns="38100" bIns="19050" anchor="ctr">
            <a:normAutofit/>
          </a:bodyPr>
          <a:lstStyle/>
          <a:p>
            <a:pPr algn="ctr">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Add screenshots of the main RTL, project structure, or a successful terminal build.</a:t>
            </a:r>
            <a:endParaRPr sz="1350" b="0">
              <a:solidFill>
                <a:srgbClr val="E6E9EF"/>
              </a:solidFill>
              <a:latin typeface="Arial" panose="020B0604020202020204"/>
              <a:ea typeface="Arial" panose="020B0604020202020204"/>
              <a:cs typeface="Arial" panose="020B0604020202020204"/>
            </a:endParaRPr>
          </a:p>
        </p:txBody>
      </p:sp>
      <p:pic>
        <p:nvPicPr>
          <p:cNvPr id="34" name="Picture 33"/>
          <p:cNvPicPr>
            <a:picLocks noChangeAspect="1"/>
          </p:cNvPicPr>
          <p:nvPr/>
        </p:nvPicPr>
        <p:blipFill>
          <a:blip r:embed="rId1"/>
          <a:stretch>
            <a:fillRect/>
          </a:stretch>
        </p:blipFill>
        <p:spPr>
          <a:xfrm>
            <a:off x="8544678" y="1125149"/>
            <a:ext cx="3100823" cy="3685160"/>
          </a:xfrm>
          <a:prstGeom prst="rect">
            <a:avLst/>
          </a:prstGeom>
        </p:spPr>
      </p:pic>
      <p:pic>
        <p:nvPicPr>
          <p:cNvPr id="29" name="Picture 28"/>
          <p:cNvPicPr>
            <a:picLocks noChangeAspect="1"/>
          </p:cNvPicPr>
          <p:nvPr/>
        </p:nvPicPr>
        <p:blipFill>
          <a:blip r:embed="rId2"/>
          <a:stretch>
            <a:fillRect/>
          </a:stretch>
        </p:blipFill>
        <p:spPr>
          <a:xfrm>
            <a:off x="10331450" y="260350"/>
            <a:ext cx="1714500" cy="6692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8. Testbench and Python Verification</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10</a:t>
            </a:r>
            <a:endParaRPr sz="825" b="0">
              <a:solidFill>
                <a:srgbClr val="9BA7BA"/>
              </a:solidFill>
              <a:latin typeface="Arial" panose="020B0604020202020204"/>
              <a:ea typeface="Arial" panose="020B0604020202020204"/>
              <a:cs typeface="Arial" panose="020B0604020202020204"/>
            </a:endParaRPr>
          </a:p>
        </p:txBody>
      </p:sp>
      <p:sp>
        <p:nvSpPr>
          <p:cNvPr id="6" name="Rounded Rectangle 5"/>
          <p:cNvSpPr>
            <a:spLocks noGrp="1"/>
          </p:cNvSpPr>
          <p:nvPr/>
        </p:nvSpPr>
        <p:spPr>
          <a:xfrm>
            <a:off x="723900" y="1352550"/>
            <a:ext cx="1619250" cy="685800"/>
          </a:xfrm>
          <a:prstGeom prst="roundRect">
            <a:avLst>
              <a:gd name="adj" fmla="val 4167"/>
            </a:avLst>
          </a:prstGeom>
          <a:solidFill>
            <a:srgbClr val="1B2739"/>
          </a:solidFill>
          <a:ln w="19050">
            <a:solidFill>
              <a:srgbClr val="38D6A2"/>
            </a:solidFill>
            <a:prstDash val="solid"/>
          </a:ln>
        </p:spPr>
      </p:sp>
      <p:sp>
        <p:nvSpPr>
          <p:cNvPr id="7" name="Rectangle 6"/>
          <p:cNvSpPr>
            <a:spLocks noGrp="1"/>
          </p:cNvSpPr>
          <p:nvPr/>
        </p:nvSpPr>
        <p:spPr>
          <a:xfrm>
            <a:off x="762000" y="1381125"/>
            <a:ext cx="1543050" cy="6286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Python</a:t>
            </a:r>
            <a:endParaRPr sz="1350" b="1">
              <a:solidFill>
                <a:srgbClr val="E6E9EF"/>
              </a:solidFill>
              <a:latin typeface="Arial" panose="020B0604020202020204"/>
              <a:ea typeface="Arial" panose="020B0604020202020204"/>
              <a:cs typeface="Arial" panose="020B0604020202020204"/>
            </a:endParaRPr>
          </a:p>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gen_vectors.py</a:t>
            </a:r>
            <a:endParaRPr sz="1350" b="1">
              <a:solidFill>
                <a:srgbClr val="E6E9EF"/>
              </a:solidFill>
              <a:latin typeface="Arial" panose="020B0604020202020204"/>
              <a:ea typeface="Arial" panose="020B0604020202020204"/>
              <a:cs typeface="Arial" panose="020B0604020202020204"/>
            </a:endParaRPr>
          </a:p>
        </p:txBody>
      </p:sp>
      <p:sp>
        <p:nvSpPr>
          <p:cNvPr id="8" name="Right Arrow 7"/>
          <p:cNvSpPr>
            <a:spLocks noGrp="1"/>
          </p:cNvSpPr>
          <p:nvPr/>
        </p:nvSpPr>
        <p:spPr>
          <a:xfrm>
            <a:off x="2476500" y="1600200"/>
            <a:ext cx="895350" cy="133350"/>
          </a:xfrm>
          <a:prstGeom prst="rightArrow">
            <a:avLst/>
          </a:prstGeom>
          <a:solidFill>
            <a:srgbClr val="38D6A2"/>
          </a:solidFill>
          <a:ln w="0">
            <a:solidFill>
              <a:srgbClr val="38D6A2"/>
            </a:solidFill>
            <a:prstDash val="solid"/>
          </a:ln>
        </p:spPr>
      </p:sp>
      <p:sp>
        <p:nvSpPr>
          <p:cNvPr id="9" name="Rounded Rectangle 8"/>
          <p:cNvSpPr>
            <a:spLocks noGrp="1"/>
          </p:cNvSpPr>
          <p:nvPr/>
        </p:nvSpPr>
        <p:spPr>
          <a:xfrm>
            <a:off x="3486150" y="1352550"/>
            <a:ext cx="1619250" cy="685800"/>
          </a:xfrm>
          <a:prstGeom prst="roundRect">
            <a:avLst>
              <a:gd name="adj" fmla="val 4167"/>
            </a:avLst>
          </a:prstGeom>
          <a:solidFill>
            <a:srgbClr val="1B2739"/>
          </a:solidFill>
          <a:ln w="19050">
            <a:solidFill>
              <a:srgbClr val="25C4DD"/>
            </a:solidFill>
            <a:prstDash val="solid"/>
          </a:ln>
        </p:spPr>
      </p:sp>
      <p:sp>
        <p:nvSpPr>
          <p:cNvPr id="10" name="Rectangle 9"/>
          <p:cNvSpPr>
            <a:spLocks noGrp="1"/>
          </p:cNvSpPr>
          <p:nvPr/>
        </p:nvSpPr>
        <p:spPr>
          <a:xfrm>
            <a:off x="3524250" y="1381125"/>
            <a:ext cx="1543050" cy="6286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Verilog</a:t>
            </a:r>
            <a:endParaRPr sz="1350" b="1">
              <a:solidFill>
                <a:srgbClr val="E6E9EF"/>
              </a:solidFill>
              <a:latin typeface="Arial" panose="020B0604020202020204"/>
              <a:ea typeface="Arial" panose="020B0604020202020204"/>
              <a:cs typeface="Arial" panose="020B0604020202020204"/>
            </a:endParaRPr>
          </a:p>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Testbench</a:t>
            </a:r>
            <a:endParaRPr sz="1350" b="1">
              <a:solidFill>
                <a:srgbClr val="E6E9EF"/>
              </a:solidFill>
              <a:latin typeface="Arial" panose="020B0604020202020204"/>
              <a:ea typeface="Arial" panose="020B0604020202020204"/>
              <a:cs typeface="Arial" panose="020B0604020202020204"/>
            </a:endParaRPr>
          </a:p>
        </p:txBody>
      </p:sp>
      <p:sp>
        <p:nvSpPr>
          <p:cNvPr id="11" name="Right Arrow 10"/>
          <p:cNvSpPr>
            <a:spLocks noGrp="1"/>
          </p:cNvSpPr>
          <p:nvPr/>
        </p:nvSpPr>
        <p:spPr>
          <a:xfrm>
            <a:off x="5238750" y="1600200"/>
            <a:ext cx="895350" cy="133350"/>
          </a:xfrm>
          <a:prstGeom prst="rightArrow">
            <a:avLst/>
          </a:prstGeom>
          <a:solidFill>
            <a:srgbClr val="25C4DD"/>
          </a:solidFill>
          <a:ln w="0">
            <a:solidFill>
              <a:srgbClr val="25C4DD"/>
            </a:solidFill>
            <a:prstDash val="solid"/>
          </a:ln>
        </p:spPr>
      </p:sp>
      <p:sp>
        <p:nvSpPr>
          <p:cNvPr id="12" name="Rounded Rectangle 11"/>
          <p:cNvSpPr>
            <a:spLocks noGrp="1"/>
          </p:cNvSpPr>
          <p:nvPr/>
        </p:nvSpPr>
        <p:spPr>
          <a:xfrm>
            <a:off x="6248400" y="1352550"/>
            <a:ext cx="1619250" cy="685800"/>
          </a:xfrm>
          <a:prstGeom prst="roundRect">
            <a:avLst>
              <a:gd name="adj" fmla="val 4167"/>
            </a:avLst>
          </a:prstGeom>
          <a:solidFill>
            <a:srgbClr val="1B2739"/>
          </a:solidFill>
          <a:ln w="19050">
            <a:solidFill>
              <a:srgbClr val="FFBD2E"/>
            </a:solidFill>
            <a:prstDash val="solid"/>
          </a:ln>
        </p:spPr>
      </p:sp>
      <p:sp>
        <p:nvSpPr>
          <p:cNvPr id="13" name="Rectangle 12"/>
          <p:cNvSpPr>
            <a:spLocks noGrp="1"/>
          </p:cNvSpPr>
          <p:nvPr/>
        </p:nvSpPr>
        <p:spPr>
          <a:xfrm>
            <a:off x="6286500" y="1381125"/>
            <a:ext cx="1543050" cy="6286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DUT</a:t>
            </a:r>
            <a:endParaRPr sz="1350" b="1">
              <a:solidFill>
                <a:srgbClr val="E6E9EF"/>
              </a:solidFill>
              <a:latin typeface="Arial" panose="020B0604020202020204"/>
              <a:ea typeface="Arial" panose="020B0604020202020204"/>
              <a:cs typeface="Arial" panose="020B0604020202020204"/>
            </a:endParaRPr>
          </a:p>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2×2 Multiplier</a:t>
            </a:r>
            <a:endParaRPr sz="1350" b="1">
              <a:solidFill>
                <a:srgbClr val="E6E9EF"/>
              </a:solidFill>
              <a:latin typeface="Arial" panose="020B0604020202020204"/>
              <a:ea typeface="Arial" panose="020B0604020202020204"/>
              <a:cs typeface="Arial" panose="020B0604020202020204"/>
            </a:endParaRPr>
          </a:p>
        </p:txBody>
      </p:sp>
      <p:sp>
        <p:nvSpPr>
          <p:cNvPr id="14" name="Right Arrow 13"/>
          <p:cNvSpPr>
            <a:spLocks noGrp="1"/>
          </p:cNvSpPr>
          <p:nvPr/>
        </p:nvSpPr>
        <p:spPr>
          <a:xfrm>
            <a:off x="8001000" y="1600200"/>
            <a:ext cx="895350" cy="133350"/>
          </a:xfrm>
          <a:prstGeom prst="rightArrow">
            <a:avLst/>
          </a:prstGeom>
          <a:solidFill>
            <a:srgbClr val="FFBD2E"/>
          </a:solidFill>
          <a:ln w="0">
            <a:solidFill>
              <a:srgbClr val="FFBD2E"/>
            </a:solidFill>
            <a:prstDash val="solid"/>
          </a:ln>
        </p:spPr>
      </p:sp>
      <p:sp>
        <p:nvSpPr>
          <p:cNvPr id="15" name="Rounded Rectangle 14"/>
          <p:cNvSpPr>
            <a:spLocks noGrp="1"/>
          </p:cNvSpPr>
          <p:nvPr/>
        </p:nvSpPr>
        <p:spPr>
          <a:xfrm>
            <a:off x="9010650" y="1352550"/>
            <a:ext cx="1714500" cy="685800"/>
          </a:xfrm>
          <a:prstGeom prst="roundRect">
            <a:avLst>
              <a:gd name="adj" fmla="val 4167"/>
            </a:avLst>
          </a:prstGeom>
          <a:solidFill>
            <a:srgbClr val="1B2739"/>
          </a:solidFill>
          <a:ln w="19050">
            <a:solidFill>
              <a:srgbClr val="38D6A2"/>
            </a:solidFill>
            <a:prstDash val="solid"/>
          </a:ln>
        </p:spPr>
      </p:sp>
      <p:sp>
        <p:nvSpPr>
          <p:cNvPr id="16" name="Rectangle 15"/>
          <p:cNvSpPr>
            <a:spLocks noGrp="1"/>
          </p:cNvSpPr>
          <p:nvPr/>
        </p:nvSpPr>
        <p:spPr>
          <a:xfrm>
            <a:off x="9048750" y="1381125"/>
            <a:ext cx="1638300" cy="628650"/>
          </a:xfrm>
          <a:prstGeom prst="rect">
            <a:avLst/>
          </a:prstGeom>
          <a:noFill/>
          <a:ln w="0">
            <a:noFill/>
            <a:prstDash val="solid"/>
          </a:ln>
        </p:spPr>
        <p:txBody>
          <a:bodyPr wrap="square" lIns="38100" tIns="19050" rIns="38100" bIns="19050" anchor="ctr">
            <a:normAutofit fontScale="96442"/>
          </a:bodyPr>
          <a:lstStyle/>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Compare</a:t>
            </a:r>
            <a:endParaRPr sz="1350" b="1">
              <a:solidFill>
                <a:srgbClr val="E6E9EF"/>
              </a:solidFill>
              <a:latin typeface="Arial" panose="020B0604020202020204"/>
              <a:ea typeface="Arial" panose="020B0604020202020204"/>
              <a:cs typeface="Arial" panose="020B0604020202020204"/>
            </a:endParaRPr>
          </a:p>
          <a:p>
            <a:pPr algn="ctr">
              <a:lnSpc>
                <a:spcPct val="100000"/>
              </a:lnSpc>
              <a:buNone/>
              <a:defRPr sz="1350" b="1">
                <a:solidFill>
                  <a:srgbClr val="E6E9EF"/>
                </a:solidFill>
                <a:latin typeface="Arial" panose="020B0604020202020204"/>
                <a:ea typeface="Arial" panose="020B0604020202020204"/>
                <a:cs typeface="Arial" panose="020B0604020202020204"/>
              </a:defRPr>
            </a:pPr>
            <a:r>
              <a:rPr sz="1350" b="1">
                <a:solidFill>
                  <a:srgbClr val="E6E9EF"/>
                </a:solidFill>
                <a:latin typeface="Arial" panose="020B0604020202020204"/>
                <a:ea typeface="Arial" panose="020B0604020202020204"/>
                <a:cs typeface="Arial" panose="020B0604020202020204"/>
              </a:rPr>
              <a:t>Expected vs. Actual</a:t>
            </a:r>
            <a:endParaRPr sz="1350" b="1">
              <a:solidFill>
                <a:srgbClr val="E6E9EF"/>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819150" y="2838450"/>
            <a:ext cx="3143250" cy="381000"/>
          </a:xfrm>
          <a:prstGeom prst="rect">
            <a:avLst/>
          </a:prstGeom>
          <a:noFill/>
          <a:ln w="0">
            <a:noFill/>
            <a:prstDash val="solid"/>
          </a:ln>
        </p:spPr>
        <p:txBody>
          <a:bodyPr wrap="square" lIns="38100" tIns="19050" rIns="38100" bIns="19050" anchor="ctr">
            <a:normAutofit fontScale="89468"/>
          </a:bodyPr>
          <a:lstStyle/>
          <a:p>
            <a:pPr algn="l">
              <a:lnSpc>
                <a:spcPct val="100000"/>
              </a:lnSpc>
              <a:buNone/>
              <a:defRPr sz="2025" b="1">
                <a:solidFill>
                  <a:srgbClr val="F8FAFC"/>
                </a:solidFill>
                <a:latin typeface="Arial" panose="020B0604020202020204"/>
                <a:ea typeface="Arial" panose="020B0604020202020204"/>
                <a:cs typeface="Arial" panose="020B0604020202020204"/>
              </a:defRPr>
            </a:pPr>
            <a:r>
              <a:rPr sz="2025" b="1">
                <a:solidFill>
                  <a:srgbClr val="F8FAFC"/>
                </a:solidFill>
                <a:latin typeface="Arial" panose="020B0604020202020204"/>
                <a:ea typeface="Arial" panose="020B0604020202020204"/>
                <a:cs typeface="Arial" panose="020B0604020202020204"/>
              </a:rPr>
              <a:t>Recommended Test Groups</a:t>
            </a:r>
            <a:endParaRPr sz="2025" b="1">
              <a:solidFill>
                <a:srgbClr val="F8FAFC"/>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857250" y="3381375"/>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1095375" y="3381375"/>
            <a:ext cx="195262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All-zero matrices</a:t>
            </a:r>
            <a:endParaRPr sz="1200" b="0">
              <a:solidFill>
                <a:srgbClr val="E6E9EF"/>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3571875" y="3381375"/>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3810000" y="3381375"/>
            <a:ext cx="18573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Identity matrix</a:t>
            </a:r>
            <a:endParaRPr sz="1200" b="0">
              <a:solidFill>
                <a:srgbClr val="E6E9EF"/>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6286500" y="3381375"/>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6524625" y="3381375"/>
            <a:ext cx="18573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All-positive values</a:t>
            </a:r>
            <a:endParaRPr sz="1200" b="0">
              <a:solidFill>
                <a:srgbClr val="E6E9EF"/>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9001125" y="3381375"/>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9239250" y="3381375"/>
            <a:ext cx="18573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All-negative values</a:t>
            </a:r>
            <a:endParaRPr sz="1200" b="0">
              <a:solidFill>
                <a:srgbClr val="E6E9EF"/>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857250" y="3886200"/>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1095375" y="3886200"/>
            <a:ext cx="195262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Mixed signs</a:t>
            </a:r>
            <a:endParaRPr sz="1200" b="0">
              <a:solidFill>
                <a:srgbClr val="E6E9EF"/>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3571875" y="3886200"/>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29" name="Rectangle 28"/>
          <p:cNvSpPr>
            <a:spLocks noGrp="1"/>
          </p:cNvSpPr>
          <p:nvPr/>
        </p:nvSpPr>
        <p:spPr>
          <a:xfrm>
            <a:off x="3810000" y="3886200"/>
            <a:ext cx="20478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Maximum / minimum values</a:t>
            </a:r>
            <a:endParaRPr sz="1200" b="0">
              <a:solidFill>
                <a:srgbClr val="E6E9EF"/>
              </a:solidFill>
              <a:latin typeface="Arial" panose="020B0604020202020204"/>
              <a:ea typeface="Arial" panose="020B0604020202020204"/>
              <a:cs typeface="Arial" panose="020B0604020202020204"/>
            </a:endParaRPr>
          </a:p>
        </p:txBody>
      </p:sp>
      <p:sp>
        <p:nvSpPr>
          <p:cNvPr id="30" name="Rectangle 29"/>
          <p:cNvSpPr>
            <a:spLocks noGrp="1"/>
          </p:cNvSpPr>
          <p:nvPr/>
        </p:nvSpPr>
        <p:spPr>
          <a:xfrm>
            <a:off x="6286500" y="3886200"/>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31" name="Rectangle 30"/>
          <p:cNvSpPr>
            <a:spLocks noGrp="1"/>
          </p:cNvSpPr>
          <p:nvPr/>
        </p:nvSpPr>
        <p:spPr>
          <a:xfrm>
            <a:off x="6524625" y="3886200"/>
            <a:ext cx="185737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Zero result</a:t>
            </a:r>
            <a:endParaRPr sz="1200" b="0">
              <a:solidFill>
                <a:srgbClr val="E6E9EF"/>
              </a:solidFill>
              <a:latin typeface="Arial" panose="020B0604020202020204"/>
              <a:ea typeface="Arial" panose="020B0604020202020204"/>
              <a:cs typeface="Arial" panose="020B0604020202020204"/>
            </a:endParaRPr>
          </a:p>
        </p:txBody>
      </p:sp>
      <p:sp>
        <p:nvSpPr>
          <p:cNvPr id="32" name="Rectangle 31"/>
          <p:cNvSpPr>
            <a:spLocks noGrp="1"/>
          </p:cNvSpPr>
          <p:nvPr/>
        </p:nvSpPr>
        <p:spPr>
          <a:xfrm>
            <a:off x="9001125" y="3886200"/>
            <a:ext cx="209550" cy="247650"/>
          </a:xfrm>
          <a:prstGeom prst="rect">
            <a:avLst/>
          </a:prstGeom>
          <a:noFill/>
          <a:ln w="0">
            <a:noFill/>
            <a:prstDash val="solid"/>
          </a:ln>
        </p:spPr>
        <p:txBody>
          <a:bodyPr wrap="square" lIns="38100" tIns="19050" rIns="38100" bIns="19050" anchor="ctr">
            <a:normAutofit fontScale="72992"/>
          </a:bodyPr>
          <a:lstStyle/>
          <a:p>
            <a:pPr algn="ctr">
              <a:lnSpc>
                <a:spcPct val="100000"/>
              </a:lnSpc>
              <a:buNone/>
              <a:defRPr sz="1425" b="1">
                <a:solidFill>
                  <a:srgbClr val="F8FAFC"/>
                </a:solidFill>
                <a:latin typeface="Arial" panose="020B0604020202020204"/>
                <a:ea typeface="Arial" panose="020B0604020202020204"/>
                <a:cs typeface="Arial" panose="020B0604020202020204"/>
              </a:defRPr>
            </a:pPr>
            <a:r>
              <a:rPr sz="1425" b="1">
                <a:solidFill>
                  <a:srgbClr val="F8FAFC"/>
                </a:solidFill>
                <a:latin typeface="Arial" panose="020B0604020202020204"/>
                <a:ea typeface="Arial" panose="020B0604020202020204"/>
                <a:cs typeface="Arial" panose="020B0604020202020204"/>
              </a:rPr>
              <a:t>✓</a:t>
            </a:r>
            <a:endParaRPr sz="1425" b="1">
              <a:solidFill>
                <a:srgbClr val="F8FAFC"/>
              </a:solidFill>
              <a:latin typeface="Arial" panose="020B0604020202020204"/>
              <a:ea typeface="Arial" panose="020B0604020202020204"/>
              <a:cs typeface="Arial" panose="020B0604020202020204"/>
            </a:endParaRPr>
          </a:p>
        </p:txBody>
      </p:sp>
      <p:sp>
        <p:nvSpPr>
          <p:cNvPr id="33" name="Rectangle 32"/>
          <p:cNvSpPr>
            <a:spLocks noGrp="1"/>
          </p:cNvSpPr>
          <p:nvPr/>
        </p:nvSpPr>
        <p:spPr>
          <a:xfrm>
            <a:off x="9239250" y="3886200"/>
            <a:ext cx="1952625" cy="247650"/>
          </a:xfrm>
          <a:prstGeom prst="rect">
            <a:avLst/>
          </a:prstGeom>
          <a:noFill/>
          <a:ln w="0">
            <a:noFill/>
            <a:prstDash val="solid"/>
          </a:ln>
        </p:spPr>
        <p:txBody>
          <a:bodyPr wrap="square" lIns="38100" tIns="19050" rIns="38100" bIns="19050" anchor="ctr">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Near-overflow cases</a:t>
            </a:r>
            <a:endParaRPr sz="1200" b="0">
              <a:solidFill>
                <a:srgbClr val="E6E9EF"/>
              </a:solidFill>
              <a:latin typeface="Arial" panose="020B0604020202020204"/>
              <a:ea typeface="Arial" panose="020B0604020202020204"/>
              <a:cs typeface="Arial" panose="020B0604020202020204"/>
            </a:endParaRPr>
          </a:p>
        </p:txBody>
      </p:sp>
      <p:pic>
        <p:nvPicPr>
          <p:cNvPr id="42" name="Picture 41"/>
          <p:cNvPicPr>
            <a:picLocks noChangeAspect="1"/>
          </p:cNvPicPr>
          <p:nvPr/>
        </p:nvPicPr>
        <p:blipFill>
          <a:blip r:embed="rId1"/>
          <a:stretch>
            <a:fillRect/>
          </a:stretch>
        </p:blipFill>
        <p:spPr>
          <a:xfrm>
            <a:off x="1048191" y="4504954"/>
            <a:ext cx="3798129" cy="2017756"/>
          </a:xfrm>
          <a:prstGeom prst="rect">
            <a:avLst/>
          </a:prstGeom>
        </p:spPr>
      </p:pic>
      <p:pic>
        <p:nvPicPr>
          <p:cNvPr id="43" name="Picture 42"/>
          <p:cNvPicPr>
            <a:picLocks noChangeAspect="1"/>
          </p:cNvPicPr>
          <p:nvPr/>
        </p:nvPicPr>
        <p:blipFill>
          <a:blip r:embed="rId2"/>
          <a:stretch>
            <a:fillRect/>
          </a:stretch>
        </p:blipFill>
        <p:spPr>
          <a:xfrm>
            <a:off x="7357550" y="4459553"/>
            <a:ext cx="3798130" cy="2063157"/>
          </a:xfrm>
          <a:prstGeom prst="rect">
            <a:avLst/>
          </a:prstGeom>
        </p:spPr>
      </p:pic>
      <p:pic>
        <p:nvPicPr>
          <p:cNvPr id="34" name="Picture 33"/>
          <p:cNvPicPr>
            <a:picLocks noChangeAspect="1"/>
          </p:cNvPicPr>
          <p:nvPr/>
        </p:nvPicPr>
        <p:blipFill>
          <a:blip r:embed="rId3"/>
          <a:stretch>
            <a:fillRect/>
          </a:stretch>
        </p:blipFill>
        <p:spPr>
          <a:xfrm>
            <a:off x="9996170" y="409575"/>
            <a:ext cx="1939290" cy="756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9. ModelSim Simulation Results</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11</a:t>
            </a:r>
            <a:endParaRPr sz="825" b="0">
              <a:solidFill>
                <a:srgbClr val="9BA7BA"/>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495300" y="1847850"/>
            <a:ext cx="1809750" cy="1333500"/>
          </a:xfrm>
          <a:prstGeom prst="rect">
            <a:avLst/>
          </a:prstGeom>
          <a:noFill/>
          <a:ln w="0">
            <a:noFill/>
            <a:prstDash val="solid"/>
          </a:ln>
        </p:spPr>
        <p:txBody>
          <a:bodyPr wrap="square" lIns="38100" tIns="19050" rIns="38100" bIns="19050" anchor="t">
            <a:normAutofit/>
          </a:bodyPr>
          <a:lstStyle/>
          <a:p>
            <a:pPr algn="l">
              <a:lnSpc>
                <a:spcPct val="100000"/>
              </a:lnSpc>
              <a:buNone/>
              <a:defRPr sz="975" b="0">
                <a:solidFill>
                  <a:srgbClr val="334155"/>
                </a:solidFill>
                <a:latin typeface="Courier New" panose="02070309020205020404"/>
                <a:ea typeface="Courier New" panose="02070309020205020404"/>
                <a:cs typeface="Courier New" panose="02070309020205020404"/>
              </a:defRPr>
            </a:pPr>
            <a:endParaRPr sz="975" b="0">
              <a:solidFill>
                <a:srgbClr val="334155"/>
              </a:solidFill>
              <a:latin typeface="Courier New" panose="02070309020205020404"/>
              <a:ea typeface="Courier New" panose="02070309020205020404"/>
              <a:cs typeface="Courier New" panose="02070309020205020404"/>
            </a:endParaRPr>
          </a:p>
        </p:txBody>
      </p:sp>
      <p:sp>
        <p:nvSpPr>
          <p:cNvPr id="17" name="Rectangle 16"/>
          <p:cNvSpPr>
            <a:spLocks noGrp="1"/>
          </p:cNvSpPr>
          <p:nvPr/>
        </p:nvSpPr>
        <p:spPr>
          <a:xfrm>
            <a:off x="7858125" y="1390650"/>
            <a:ext cx="3619500" cy="438150"/>
          </a:xfrm>
          <a:prstGeom prst="rect">
            <a:avLst/>
          </a:prstGeom>
          <a:noFill/>
          <a:ln w="0">
            <a:noFill/>
            <a:prstDash val="solid"/>
          </a:ln>
        </p:spPr>
        <p:txBody>
          <a:bodyPr wrap="square" lIns="38100" tIns="19050" rIns="38100" bIns="19050" anchor="ctr">
            <a:normAutofit fontScale="96640"/>
          </a:bodyPr>
          <a:lstStyle/>
          <a:p>
            <a:pPr algn="l">
              <a:lnSpc>
                <a:spcPct val="100000"/>
              </a:lnSpc>
              <a:buNone/>
              <a:defRPr sz="2175" b="1">
                <a:solidFill>
                  <a:srgbClr val="F8FAFC"/>
                </a:solidFill>
                <a:latin typeface="Arial" panose="020B0604020202020204"/>
                <a:ea typeface="Arial" panose="020B0604020202020204"/>
                <a:cs typeface="Arial" panose="020B0604020202020204"/>
              </a:defRPr>
            </a:pPr>
            <a:r>
              <a:rPr sz="2175" b="1">
                <a:solidFill>
                  <a:srgbClr val="F8FAFC"/>
                </a:solidFill>
                <a:latin typeface="Arial" panose="020B0604020202020204"/>
                <a:ea typeface="Arial" panose="020B0604020202020204"/>
                <a:cs typeface="Arial" panose="020B0604020202020204"/>
              </a:rPr>
              <a:t>How to Read the Waveform</a:t>
            </a:r>
            <a:endParaRPr sz="2175" b="1">
              <a:solidFill>
                <a:srgbClr val="F8FAFC"/>
              </a:solidFill>
              <a:latin typeface="Arial" panose="020B0604020202020204"/>
              <a:ea typeface="Arial" panose="020B0604020202020204"/>
              <a:cs typeface="Arial" panose="020B0604020202020204"/>
            </a:endParaRPr>
          </a:p>
        </p:txBody>
      </p:sp>
      <p:sp>
        <p:nvSpPr>
          <p:cNvPr id="18" name="Rounded Rectangle 17"/>
          <p:cNvSpPr>
            <a:spLocks noGrp="1"/>
          </p:cNvSpPr>
          <p:nvPr/>
        </p:nvSpPr>
        <p:spPr>
          <a:xfrm>
            <a:off x="7905750" y="2000250"/>
            <a:ext cx="342900" cy="323850"/>
          </a:xfrm>
          <a:prstGeom prst="roundRect">
            <a:avLst>
              <a:gd name="adj" fmla="val 5882"/>
            </a:avLst>
          </a:prstGeom>
          <a:solidFill>
            <a:srgbClr val="111C31"/>
          </a:solidFill>
          <a:ln w="19050">
            <a:solidFill>
              <a:srgbClr val="25C4DD"/>
            </a:solidFill>
            <a:prstDash val="solid"/>
          </a:ln>
        </p:spPr>
      </p:sp>
      <p:sp>
        <p:nvSpPr>
          <p:cNvPr id="19" name="Rectangle 18"/>
          <p:cNvSpPr>
            <a:spLocks noGrp="1"/>
          </p:cNvSpPr>
          <p:nvPr/>
        </p:nvSpPr>
        <p:spPr>
          <a:xfrm>
            <a:off x="7905750" y="2000250"/>
            <a:ext cx="34290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25C4DD"/>
                </a:solidFill>
                <a:latin typeface="Arial" panose="020B0604020202020204"/>
                <a:ea typeface="Arial" panose="020B0604020202020204"/>
                <a:cs typeface="Arial" panose="020B0604020202020204"/>
              </a:defRPr>
            </a:pPr>
            <a:r>
              <a:rPr sz="1350" b="1">
                <a:solidFill>
                  <a:srgbClr val="25C4DD"/>
                </a:solidFill>
                <a:latin typeface="Arial" panose="020B0604020202020204"/>
                <a:ea typeface="Arial" panose="020B0604020202020204"/>
                <a:cs typeface="Arial" panose="020B0604020202020204"/>
              </a:rPr>
              <a:t>1</a:t>
            </a:r>
            <a:endParaRPr sz="1350" b="1">
              <a:solidFill>
                <a:srgbClr val="25C4DD"/>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8362950" y="1981200"/>
            <a:ext cx="2971800" cy="3810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Reset returns the circuit to IDLE.</a:t>
            </a:r>
            <a:endParaRPr sz="1350" b="0">
              <a:solidFill>
                <a:srgbClr val="E6E9EF"/>
              </a:solidFill>
              <a:latin typeface="Arial" panose="020B0604020202020204"/>
              <a:ea typeface="Arial" panose="020B0604020202020204"/>
              <a:cs typeface="Arial" panose="020B0604020202020204"/>
            </a:endParaRPr>
          </a:p>
        </p:txBody>
      </p:sp>
      <p:sp>
        <p:nvSpPr>
          <p:cNvPr id="21" name="Rounded Rectangle 20"/>
          <p:cNvSpPr>
            <a:spLocks noGrp="1"/>
          </p:cNvSpPr>
          <p:nvPr/>
        </p:nvSpPr>
        <p:spPr>
          <a:xfrm>
            <a:off x="7905750" y="2762250"/>
            <a:ext cx="342900" cy="323850"/>
          </a:xfrm>
          <a:prstGeom prst="roundRect">
            <a:avLst>
              <a:gd name="adj" fmla="val 5882"/>
            </a:avLst>
          </a:prstGeom>
          <a:solidFill>
            <a:srgbClr val="111C31"/>
          </a:solidFill>
          <a:ln w="19050">
            <a:solidFill>
              <a:srgbClr val="25C4DD"/>
            </a:solidFill>
            <a:prstDash val="solid"/>
          </a:ln>
        </p:spPr>
      </p:sp>
      <p:sp>
        <p:nvSpPr>
          <p:cNvPr id="22" name="Rectangle 21"/>
          <p:cNvSpPr>
            <a:spLocks noGrp="1"/>
          </p:cNvSpPr>
          <p:nvPr/>
        </p:nvSpPr>
        <p:spPr>
          <a:xfrm>
            <a:off x="7905750" y="2762250"/>
            <a:ext cx="34290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25C4DD"/>
                </a:solidFill>
                <a:latin typeface="Arial" panose="020B0604020202020204"/>
                <a:ea typeface="Arial" panose="020B0604020202020204"/>
                <a:cs typeface="Arial" panose="020B0604020202020204"/>
              </a:defRPr>
            </a:pPr>
            <a:r>
              <a:rPr sz="1350" b="1">
                <a:solidFill>
                  <a:srgbClr val="25C4DD"/>
                </a:solidFill>
                <a:latin typeface="Arial" panose="020B0604020202020204"/>
                <a:ea typeface="Arial" panose="020B0604020202020204"/>
                <a:cs typeface="Arial" panose="020B0604020202020204"/>
              </a:rPr>
              <a:t>2</a:t>
            </a:r>
            <a:endParaRPr sz="1350" b="1">
              <a:solidFill>
                <a:srgbClr val="25C4DD"/>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8362950" y="2743200"/>
            <a:ext cx="2971800" cy="3810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Set start = 1 to load matrices A and B.</a:t>
            </a:r>
            <a:endParaRPr sz="1350" b="0">
              <a:solidFill>
                <a:srgbClr val="E6E9EF"/>
              </a:solidFill>
              <a:latin typeface="Arial" panose="020B0604020202020204"/>
              <a:ea typeface="Arial" panose="020B0604020202020204"/>
              <a:cs typeface="Arial" panose="020B0604020202020204"/>
            </a:endParaRPr>
          </a:p>
        </p:txBody>
      </p:sp>
      <p:sp>
        <p:nvSpPr>
          <p:cNvPr id="24" name="Rounded Rectangle 23"/>
          <p:cNvSpPr>
            <a:spLocks noGrp="1"/>
          </p:cNvSpPr>
          <p:nvPr/>
        </p:nvSpPr>
        <p:spPr>
          <a:xfrm>
            <a:off x="7905750" y="3524250"/>
            <a:ext cx="342900" cy="323850"/>
          </a:xfrm>
          <a:prstGeom prst="roundRect">
            <a:avLst>
              <a:gd name="adj" fmla="val 5882"/>
            </a:avLst>
          </a:prstGeom>
          <a:solidFill>
            <a:srgbClr val="111C31"/>
          </a:solidFill>
          <a:ln w="19050">
            <a:solidFill>
              <a:srgbClr val="25C4DD"/>
            </a:solidFill>
            <a:prstDash val="solid"/>
          </a:ln>
        </p:spPr>
      </p:sp>
      <p:sp>
        <p:nvSpPr>
          <p:cNvPr id="25" name="Rectangle 24"/>
          <p:cNvSpPr>
            <a:spLocks noGrp="1"/>
          </p:cNvSpPr>
          <p:nvPr/>
        </p:nvSpPr>
        <p:spPr>
          <a:xfrm>
            <a:off x="7905750" y="3524250"/>
            <a:ext cx="34290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25C4DD"/>
                </a:solidFill>
                <a:latin typeface="Arial" panose="020B0604020202020204"/>
                <a:ea typeface="Arial" panose="020B0604020202020204"/>
                <a:cs typeface="Arial" panose="020B0604020202020204"/>
              </a:defRPr>
            </a:pPr>
            <a:r>
              <a:rPr sz="1350" b="1">
                <a:solidFill>
                  <a:srgbClr val="25C4DD"/>
                </a:solidFill>
                <a:latin typeface="Arial" panose="020B0604020202020204"/>
                <a:ea typeface="Arial" panose="020B0604020202020204"/>
                <a:cs typeface="Arial" panose="020B0604020202020204"/>
              </a:rPr>
              <a:t>3</a:t>
            </a:r>
            <a:endParaRPr sz="1350" b="1">
              <a:solidFill>
                <a:srgbClr val="25C4DD"/>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8362950" y="3505200"/>
            <a:ext cx="2971800" cy="3810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After the MAC cycles, done = 1.</a:t>
            </a:r>
            <a:endParaRPr sz="1350" b="0">
              <a:solidFill>
                <a:srgbClr val="E6E9EF"/>
              </a:solidFill>
              <a:latin typeface="Arial" panose="020B0604020202020204"/>
              <a:ea typeface="Arial" panose="020B0604020202020204"/>
              <a:cs typeface="Arial" panose="020B0604020202020204"/>
            </a:endParaRPr>
          </a:p>
        </p:txBody>
      </p:sp>
      <p:sp>
        <p:nvSpPr>
          <p:cNvPr id="27" name="Rounded Rectangle 26"/>
          <p:cNvSpPr>
            <a:spLocks noGrp="1"/>
          </p:cNvSpPr>
          <p:nvPr/>
        </p:nvSpPr>
        <p:spPr>
          <a:xfrm>
            <a:off x="7905750" y="4286250"/>
            <a:ext cx="342900" cy="323850"/>
          </a:xfrm>
          <a:prstGeom prst="roundRect">
            <a:avLst>
              <a:gd name="adj" fmla="val 5882"/>
            </a:avLst>
          </a:prstGeom>
          <a:solidFill>
            <a:srgbClr val="111C31"/>
          </a:solidFill>
          <a:ln w="19050">
            <a:solidFill>
              <a:srgbClr val="25C4DD"/>
            </a:solidFill>
            <a:prstDash val="solid"/>
          </a:ln>
        </p:spPr>
      </p:sp>
      <p:sp>
        <p:nvSpPr>
          <p:cNvPr id="28" name="Rectangle 27"/>
          <p:cNvSpPr>
            <a:spLocks noGrp="1"/>
          </p:cNvSpPr>
          <p:nvPr/>
        </p:nvSpPr>
        <p:spPr>
          <a:xfrm>
            <a:off x="7905750" y="4286250"/>
            <a:ext cx="34290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350" b="1">
                <a:solidFill>
                  <a:srgbClr val="25C4DD"/>
                </a:solidFill>
                <a:latin typeface="Arial" panose="020B0604020202020204"/>
                <a:ea typeface="Arial" panose="020B0604020202020204"/>
                <a:cs typeface="Arial" panose="020B0604020202020204"/>
              </a:defRPr>
            </a:pPr>
            <a:r>
              <a:rPr sz="1350" b="1">
                <a:solidFill>
                  <a:srgbClr val="25C4DD"/>
                </a:solidFill>
                <a:latin typeface="Arial" panose="020B0604020202020204"/>
                <a:ea typeface="Arial" panose="020B0604020202020204"/>
                <a:cs typeface="Arial" panose="020B0604020202020204"/>
              </a:rPr>
              <a:t>4</a:t>
            </a:r>
            <a:endParaRPr sz="1350" b="1">
              <a:solidFill>
                <a:srgbClr val="25C4DD"/>
              </a:solidFill>
              <a:latin typeface="Arial" panose="020B0604020202020204"/>
              <a:ea typeface="Arial" panose="020B0604020202020204"/>
              <a:cs typeface="Arial" panose="020B0604020202020204"/>
            </a:endParaRPr>
          </a:p>
        </p:txBody>
      </p:sp>
      <p:sp>
        <p:nvSpPr>
          <p:cNvPr id="29" name="Rectangle 28"/>
          <p:cNvSpPr>
            <a:spLocks noGrp="1"/>
          </p:cNvSpPr>
          <p:nvPr/>
        </p:nvSpPr>
        <p:spPr>
          <a:xfrm>
            <a:off x="8362950" y="4267200"/>
            <a:ext cx="2971800" cy="3810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C00…C11 match the expected values.</a:t>
            </a:r>
            <a:endParaRPr sz="1350" b="0">
              <a:solidFill>
                <a:srgbClr val="E6E9EF"/>
              </a:solidFill>
              <a:latin typeface="Arial" panose="020B0604020202020204"/>
              <a:ea typeface="Arial" panose="020B0604020202020204"/>
              <a:cs typeface="Arial" panose="020B0604020202020204"/>
            </a:endParaRPr>
          </a:p>
        </p:txBody>
      </p:sp>
      <p:sp>
        <p:nvSpPr>
          <p:cNvPr id="30" name="Rectangle 29"/>
          <p:cNvSpPr>
            <a:spLocks noGrp="1"/>
          </p:cNvSpPr>
          <p:nvPr/>
        </p:nvSpPr>
        <p:spPr>
          <a:xfrm>
            <a:off x="7858125" y="5219700"/>
            <a:ext cx="3476625" cy="609600"/>
          </a:xfrm>
          <a:prstGeom prst="rect">
            <a:avLst/>
          </a:prstGeom>
          <a:noFill/>
          <a:ln w="0">
            <a:noFill/>
            <a:prstDash val="solid"/>
          </a:ln>
        </p:spPr>
        <p:txBody>
          <a:bodyPr wrap="square" lIns="38100" tIns="19050" rIns="38100" bIns="19050" anchor="t">
            <a:normAutofit/>
          </a:bodyPr>
          <a:lstStyle/>
          <a:p>
            <a:pPr algn="l">
              <a:lnSpc>
                <a:spcPct val="100000"/>
              </a:lnSpc>
              <a:buNone/>
              <a:defRPr sz="1275" b="0">
                <a:solidFill>
                  <a:srgbClr val="9BA7BA"/>
                </a:solidFill>
                <a:latin typeface="Arial" panose="020B0604020202020204"/>
                <a:ea typeface="Arial" panose="020B0604020202020204"/>
                <a:cs typeface="Arial" panose="020B0604020202020204"/>
              </a:defRPr>
            </a:pPr>
            <a:r>
              <a:rPr sz="1275" b="0">
                <a:solidFill>
                  <a:srgbClr val="9BA7BA"/>
                </a:solidFill>
                <a:latin typeface="Arial" panose="020B0604020202020204"/>
                <a:ea typeface="Arial" panose="020B0604020202020204"/>
                <a:cs typeface="Arial" panose="020B0604020202020204"/>
              </a:rPr>
              <a:t>Suggested caption: Matrix A = …, Matrix B = …, and Matrix C matches the Python result.</a:t>
            </a:r>
            <a:endParaRPr sz="1275" b="0">
              <a:solidFill>
                <a:srgbClr val="9BA7BA"/>
              </a:solidFill>
              <a:latin typeface="Arial" panose="020B0604020202020204"/>
              <a:ea typeface="Arial" panose="020B0604020202020204"/>
              <a:cs typeface="Arial" panose="020B0604020202020204"/>
            </a:endParaRPr>
          </a:p>
        </p:txBody>
      </p:sp>
      <p:pic>
        <p:nvPicPr>
          <p:cNvPr id="31" name="Picture 30"/>
          <p:cNvPicPr>
            <a:picLocks noChangeAspect="1"/>
          </p:cNvPicPr>
          <p:nvPr/>
        </p:nvPicPr>
        <p:blipFill>
          <a:blip r:embed="rId1"/>
          <a:stretch>
            <a:fillRect/>
          </a:stretch>
        </p:blipFill>
        <p:spPr>
          <a:xfrm>
            <a:off x="283056" y="1348981"/>
            <a:ext cx="7074680" cy="4211053"/>
          </a:xfrm>
          <a:prstGeom prst="rect">
            <a:avLst/>
          </a:prstGeom>
        </p:spPr>
      </p:pic>
      <p:pic>
        <p:nvPicPr>
          <p:cNvPr id="34" name="Picture 33"/>
          <p:cNvPicPr>
            <a:picLocks noChangeAspect="1"/>
          </p:cNvPicPr>
          <p:nvPr/>
        </p:nvPicPr>
        <p:blipFill>
          <a:blip r:embed="rId2"/>
          <a:stretch>
            <a:fillRect/>
          </a:stretch>
        </p:blipFill>
        <p:spPr>
          <a:xfrm>
            <a:off x="9996170" y="409575"/>
            <a:ext cx="1939290" cy="756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10. VS Code and Terminal Results</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12</a:t>
            </a:r>
            <a:endParaRPr sz="825" b="0">
              <a:solidFill>
                <a:srgbClr val="9BA7BA"/>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876300" y="5572125"/>
            <a:ext cx="2952750" cy="323850"/>
          </a:xfrm>
          <a:prstGeom prst="rect">
            <a:avLst/>
          </a:prstGeom>
          <a:noFill/>
          <a:ln w="0">
            <a:noFill/>
            <a:prstDash val="solid"/>
          </a:ln>
        </p:spPr>
        <p:txBody>
          <a:bodyPr wrap="square" lIns="38100" tIns="19050" rIns="38100" bIns="19050" anchor="ctr">
            <a:normAutofit fontScale="95311"/>
          </a:bodyPr>
          <a:lstStyle/>
          <a:p>
            <a:pPr algn="l">
              <a:lnSpc>
                <a:spcPct val="100000"/>
              </a:lnSpc>
              <a:buNone/>
              <a:defRPr sz="1725" b="1">
                <a:solidFill>
                  <a:srgbClr val="F8FAFC"/>
                </a:solidFill>
                <a:latin typeface="Arial" panose="020B0604020202020204"/>
                <a:ea typeface="Arial" panose="020B0604020202020204"/>
                <a:cs typeface="Arial" panose="020B0604020202020204"/>
              </a:defRPr>
            </a:pPr>
            <a:r>
              <a:rPr sz="1725" b="1">
                <a:solidFill>
                  <a:srgbClr val="F8FAFC"/>
                </a:solidFill>
                <a:latin typeface="Arial" panose="020B0604020202020204"/>
                <a:ea typeface="Arial" panose="020B0604020202020204"/>
                <a:cs typeface="Arial" panose="020B0604020202020204"/>
              </a:rPr>
              <a:t>The screenshot should show</a:t>
            </a:r>
            <a:endParaRPr sz="1725" b="1">
              <a:solidFill>
                <a:srgbClr val="F8FAFC"/>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3857625" y="5429250"/>
            <a:ext cx="4095750" cy="723900"/>
          </a:xfrm>
          <a:prstGeom prst="rect">
            <a:avLst/>
          </a:prstGeom>
          <a:noFill/>
          <a:ln w="0">
            <a:noFill/>
            <a:prstDash val="solid"/>
          </a:ln>
        </p:spPr>
        <p:txBody>
          <a:bodyPr wrap="square" lIns="38100" tIns="19050" rIns="38100" bIns="19050" anchor="t">
            <a:normAutofit fontScale="93750"/>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 Input matrices A and B</a:t>
            </a:r>
            <a:endParaRPr sz="1200" b="0">
              <a:solidFill>
                <a:srgbClr val="E6E9EF"/>
              </a:solidFill>
              <a:latin typeface="Arial" panose="020B0604020202020204"/>
              <a:ea typeface="Arial" panose="020B0604020202020204"/>
              <a:cs typeface="Arial" panose="020B0604020202020204"/>
            </a:endParaRPr>
          </a:p>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 Python expected result</a:t>
            </a:r>
            <a:endParaRPr sz="1200" b="0">
              <a:solidFill>
                <a:srgbClr val="E6E9EF"/>
              </a:solidFill>
              <a:latin typeface="Arial" panose="020B0604020202020204"/>
              <a:ea typeface="Arial" panose="020B0604020202020204"/>
              <a:cs typeface="Arial" panose="020B0604020202020204"/>
            </a:endParaRPr>
          </a:p>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 Actual DUT result</a:t>
            </a:r>
            <a:endParaRPr sz="1200" b="0">
              <a:solidFill>
                <a:srgbClr val="E6E9EF"/>
              </a:solidFill>
              <a:latin typeface="Arial" panose="020B0604020202020204"/>
              <a:ea typeface="Arial" panose="020B0604020202020204"/>
              <a:cs typeface="Arial" panose="020B0604020202020204"/>
            </a:endParaRPr>
          </a:p>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 Final PASS / FAIL status</a:t>
            </a:r>
            <a:endParaRPr sz="1200" b="0">
              <a:solidFill>
                <a:srgbClr val="E6E9EF"/>
              </a:solidFill>
              <a:latin typeface="Arial" panose="020B0604020202020204"/>
              <a:ea typeface="Arial" panose="020B0604020202020204"/>
              <a:cs typeface="Arial" panose="020B0604020202020204"/>
            </a:endParaRPr>
          </a:p>
        </p:txBody>
      </p:sp>
      <p:pic>
        <p:nvPicPr>
          <p:cNvPr id="16" name="Picture 15"/>
          <p:cNvPicPr>
            <a:picLocks noChangeAspect="1"/>
          </p:cNvPicPr>
          <p:nvPr/>
        </p:nvPicPr>
        <p:blipFill>
          <a:blip r:embed="rId1"/>
          <a:stretch>
            <a:fillRect/>
          </a:stretch>
        </p:blipFill>
        <p:spPr>
          <a:xfrm>
            <a:off x="914400" y="1069848"/>
            <a:ext cx="5017592" cy="4206240"/>
          </a:xfrm>
          <a:prstGeom prst="rect">
            <a:avLst/>
          </a:prstGeom>
        </p:spPr>
      </p:pic>
      <p:pic>
        <p:nvPicPr>
          <p:cNvPr id="17" name="Picture 16"/>
          <p:cNvPicPr>
            <a:picLocks noChangeAspect="1"/>
          </p:cNvPicPr>
          <p:nvPr/>
        </p:nvPicPr>
        <p:blipFill>
          <a:blip r:embed="rId2"/>
          <a:stretch>
            <a:fillRect/>
          </a:stretch>
        </p:blipFill>
        <p:spPr>
          <a:xfrm>
            <a:off x="7038473" y="1225296"/>
            <a:ext cx="4858267" cy="4078224"/>
          </a:xfrm>
          <a:prstGeom prst="rect">
            <a:avLst/>
          </a:prstGeom>
        </p:spPr>
      </p:pic>
      <p:pic>
        <p:nvPicPr>
          <p:cNvPr id="34" name="Picture 33"/>
          <p:cNvPicPr>
            <a:picLocks noChangeAspect="1"/>
          </p:cNvPicPr>
          <p:nvPr/>
        </p:nvPicPr>
        <p:blipFill>
          <a:blip r:embed="rId3"/>
          <a:stretch>
            <a:fillRect/>
          </a:stretch>
        </p:blipFill>
        <p:spPr>
          <a:xfrm>
            <a:off x="10243185" y="409575"/>
            <a:ext cx="1692275" cy="660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11. Conclusion</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14</a:t>
            </a:r>
            <a:endParaRPr sz="825" b="0">
              <a:solidFill>
                <a:srgbClr val="9BA7BA"/>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52450" y="971550"/>
            <a:ext cx="7239000" cy="2857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9BA7BA"/>
                </a:solidFill>
                <a:latin typeface="Arial" panose="020B0604020202020204"/>
                <a:ea typeface="Arial" panose="020B0604020202020204"/>
                <a:cs typeface="Arial" panose="020B0604020202020204"/>
              </a:defRPr>
            </a:pPr>
            <a:r>
              <a:rPr sz="1350" b="0">
                <a:solidFill>
                  <a:srgbClr val="9BA7BA"/>
                </a:solidFill>
                <a:latin typeface="Arial" panose="020B0604020202020204"/>
                <a:ea typeface="Arial" panose="020B0604020202020204"/>
                <a:cs typeface="Arial" panose="020B0604020202020204"/>
              </a:rPr>
              <a:t>Summary of the 2×2 systolic-array matrix-multiplier design</a:t>
            </a:r>
            <a:endParaRPr sz="1350" b="0">
              <a:solidFill>
                <a:srgbClr val="9BA7BA"/>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800100" y="1543050"/>
            <a:ext cx="3143250" cy="361950"/>
          </a:xfrm>
          <a:prstGeom prst="rect">
            <a:avLst/>
          </a:prstGeom>
          <a:noFill/>
          <a:ln w="0">
            <a:noFill/>
            <a:prstDash val="solid"/>
          </a:ln>
        </p:spPr>
        <p:txBody>
          <a:bodyPr wrap="square" lIns="38100" tIns="19050" rIns="38100" bIns="19050" anchor="ctr">
            <a:normAutofit/>
          </a:bodyPr>
          <a:lstStyle/>
          <a:p>
            <a:pPr algn="l">
              <a:lnSpc>
                <a:spcPct val="100000"/>
              </a:lnSpc>
              <a:buNone/>
              <a:defRPr sz="1950" b="1">
                <a:solidFill>
                  <a:srgbClr val="25C4DD"/>
                </a:solidFill>
                <a:latin typeface="Arial" panose="020B0604020202020204"/>
                <a:ea typeface="Arial" panose="020B0604020202020204"/>
                <a:cs typeface="Arial" panose="020B0604020202020204"/>
              </a:defRPr>
            </a:pPr>
            <a:r>
              <a:rPr sz="1950" b="1">
                <a:solidFill>
                  <a:srgbClr val="25C4DD"/>
                </a:solidFill>
                <a:latin typeface="Arial" panose="020B0604020202020204"/>
                <a:ea typeface="Arial" panose="020B0604020202020204"/>
                <a:cs typeface="Arial" panose="020B0604020202020204"/>
              </a:rPr>
              <a:t>Mathematically Correct</a:t>
            </a:r>
            <a:endParaRPr sz="1950" b="1">
              <a:solidFill>
                <a:srgbClr val="25C4DD"/>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800100" y="2038350"/>
            <a:ext cx="4476750" cy="4381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C[i][j] is the sum of two row-by-column products.</a:t>
            </a:r>
            <a:endParaRPr sz="1350" b="0">
              <a:solidFill>
                <a:srgbClr val="E6E9EF"/>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6191250" y="1543050"/>
            <a:ext cx="3143250" cy="361950"/>
          </a:xfrm>
          <a:prstGeom prst="rect">
            <a:avLst/>
          </a:prstGeom>
          <a:noFill/>
          <a:ln w="0">
            <a:noFill/>
            <a:prstDash val="solid"/>
          </a:ln>
        </p:spPr>
        <p:txBody>
          <a:bodyPr wrap="square" lIns="38100" tIns="19050" rIns="38100" bIns="19050" anchor="ctr">
            <a:normAutofit/>
          </a:bodyPr>
          <a:lstStyle/>
          <a:p>
            <a:pPr algn="l">
              <a:lnSpc>
                <a:spcPct val="100000"/>
              </a:lnSpc>
              <a:buNone/>
              <a:defRPr sz="1950" b="1">
                <a:solidFill>
                  <a:srgbClr val="FFBD2E"/>
                </a:solidFill>
                <a:latin typeface="Arial" panose="020B0604020202020204"/>
                <a:ea typeface="Arial" panose="020B0604020202020204"/>
                <a:cs typeface="Arial" panose="020B0604020202020204"/>
              </a:defRPr>
            </a:pPr>
            <a:r>
              <a:rPr sz="1950" b="1">
                <a:solidFill>
                  <a:srgbClr val="FFBD2E"/>
                </a:solidFill>
                <a:latin typeface="Arial" panose="020B0604020202020204"/>
                <a:ea typeface="Arial" panose="020B0604020202020204"/>
                <a:cs typeface="Arial" panose="020B0604020202020204"/>
              </a:rPr>
              <a:t>Hardware Correct</a:t>
            </a:r>
            <a:endParaRPr sz="1950" b="1">
              <a:solidFill>
                <a:srgbClr val="FFBD2E"/>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6191250" y="2038350"/>
            <a:ext cx="4762500" cy="4381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The design uses PE/MAC units, registers, and a clocked FSM.</a:t>
            </a:r>
            <a:endParaRPr sz="1350" b="0">
              <a:solidFill>
                <a:srgbClr val="E6E9EF"/>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800100" y="2895600"/>
            <a:ext cx="3143250" cy="361950"/>
          </a:xfrm>
          <a:prstGeom prst="rect">
            <a:avLst/>
          </a:prstGeom>
          <a:noFill/>
          <a:ln w="0">
            <a:noFill/>
            <a:prstDash val="solid"/>
          </a:ln>
        </p:spPr>
        <p:txBody>
          <a:bodyPr wrap="square" lIns="38100" tIns="19050" rIns="38100" bIns="19050" anchor="ctr">
            <a:normAutofit/>
          </a:bodyPr>
          <a:lstStyle/>
          <a:p>
            <a:pPr algn="l">
              <a:lnSpc>
                <a:spcPct val="100000"/>
              </a:lnSpc>
              <a:buNone/>
              <a:defRPr sz="1950" b="1">
                <a:solidFill>
                  <a:srgbClr val="38D6A2"/>
                </a:solidFill>
                <a:latin typeface="Arial" panose="020B0604020202020204"/>
                <a:ea typeface="Arial" panose="020B0604020202020204"/>
                <a:cs typeface="Arial" panose="020B0604020202020204"/>
              </a:defRPr>
            </a:pPr>
            <a:r>
              <a:rPr sz="1950" b="1">
                <a:solidFill>
                  <a:srgbClr val="38D6A2"/>
                </a:solidFill>
                <a:latin typeface="Arial" panose="020B0604020202020204"/>
                <a:ea typeface="Arial" panose="020B0604020202020204"/>
                <a:cs typeface="Arial" panose="020B0604020202020204"/>
              </a:rPr>
              <a:t>Data Format Correct</a:t>
            </a:r>
            <a:endParaRPr sz="1950" b="1">
              <a:solidFill>
                <a:srgbClr val="38D6A2"/>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800100" y="3390900"/>
            <a:ext cx="4857750" cy="4381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Signed 8-bit inputs, 16-bit products, and 17-bit outputs.</a:t>
            </a:r>
            <a:endParaRPr sz="1350" b="0">
              <a:solidFill>
                <a:srgbClr val="E6E9EF"/>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6191250" y="2895600"/>
            <a:ext cx="3143250" cy="609600"/>
          </a:xfrm>
          <a:prstGeom prst="rect">
            <a:avLst/>
          </a:prstGeom>
          <a:noFill/>
          <a:ln w="0">
            <a:noFill/>
            <a:prstDash val="solid"/>
          </a:ln>
        </p:spPr>
        <p:txBody>
          <a:bodyPr wrap="square" lIns="38100" tIns="19050" rIns="38100" bIns="19050" anchor="ctr">
            <a:normAutofit/>
          </a:bodyPr>
          <a:lstStyle/>
          <a:p>
            <a:pPr algn="l">
              <a:lnSpc>
                <a:spcPct val="100000"/>
              </a:lnSpc>
              <a:buNone/>
              <a:defRPr sz="1950" b="1">
                <a:solidFill>
                  <a:srgbClr val="4D91ED"/>
                </a:solidFill>
                <a:latin typeface="Arial" panose="020B0604020202020204"/>
                <a:ea typeface="Arial" panose="020B0604020202020204"/>
                <a:cs typeface="Arial" panose="020B0604020202020204"/>
              </a:defRPr>
            </a:pPr>
            <a:r>
              <a:rPr sz="1950" b="1">
                <a:solidFill>
                  <a:srgbClr val="4D91ED"/>
                </a:solidFill>
                <a:latin typeface="Arial" panose="020B0604020202020204"/>
                <a:ea typeface="Arial" panose="020B0604020202020204"/>
                <a:cs typeface="Arial" panose="020B0604020202020204"/>
              </a:rPr>
              <a:t>Verification Correct</a:t>
            </a:r>
            <a:endParaRPr sz="1950" b="1">
              <a:solidFill>
                <a:srgbClr val="4D91ED"/>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6191250" y="3505200"/>
            <a:ext cx="4762500" cy="49530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Python + testbench + ModelSim compare expected and actual results.</a:t>
            </a:r>
            <a:endParaRPr sz="1350" b="0">
              <a:solidFill>
                <a:srgbClr val="E6E9EF"/>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838200" y="4552950"/>
            <a:ext cx="2381250" cy="533400"/>
          </a:xfrm>
          <a:prstGeom prst="rect">
            <a:avLst/>
          </a:prstGeom>
          <a:noFill/>
          <a:ln w="0">
            <a:noFill/>
            <a:prstDash val="solid"/>
          </a:ln>
        </p:spPr>
        <p:txBody>
          <a:bodyPr wrap="square" lIns="38100" tIns="19050" rIns="38100" bIns="19050" anchor="ctr">
            <a:normAutofit/>
          </a:bodyPr>
          <a:lstStyle/>
          <a:p>
            <a:pPr algn="l">
              <a:lnSpc>
                <a:spcPct val="100000"/>
              </a:lnSpc>
              <a:buNone/>
              <a:defRPr sz="2025" b="1">
                <a:solidFill>
                  <a:srgbClr val="F8FAFC"/>
                </a:solidFill>
                <a:latin typeface="Arial" panose="020B0604020202020204"/>
                <a:ea typeface="Arial" panose="020B0604020202020204"/>
                <a:cs typeface="Arial" panose="020B0604020202020204"/>
              </a:defRPr>
            </a:pPr>
            <a:r>
              <a:rPr sz="2025" b="1">
                <a:solidFill>
                  <a:srgbClr val="F8FAFC"/>
                </a:solidFill>
                <a:latin typeface="Arial" panose="020B0604020202020204"/>
                <a:ea typeface="Arial" panose="020B0604020202020204"/>
                <a:cs typeface="Arial" panose="020B0604020202020204"/>
              </a:rPr>
              <a:t>Future Work</a:t>
            </a:r>
            <a:endParaRPr sz="2025" b="1">
              <a:solidFill>
                <a:srgbClr val="F8FAFC"/>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3381375" y="4400550"/>
            <a:ext cx="6191250" cy="1047750"/>
          </a:xfrm>
          <a:prstGeom prst="rect">
            <a:avLst/>
          </a:prstGeom>
          <a:noFill/>
          <a:ln w="0">
            <a:noFill/>
            <a:prstDash val="solid"/>
          </a:ln>
        </p:spPr>
        <p:txBody>
          <a:bodyPr wrap="square" lIns="38100" tIns="19050" rIns="38100" bIns="19050" anchor="t">
            <a:normAutofit/>
          </a:bodyPr>
          <a:lstStyle/>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 Scale to 4×4 or N×N arrays</a:t>
            </a:r>
            <a:endParaRPr sz="1350" b="0">
              <a:solidFill>
                <a:srgbClr val="E6E9EF"/>
              </a:solidFill>
              <a:latin typeface="Arial" panose="020B0604020202020204"/>
              <a:ea typeface="Arial" panose="020B0604020202020204"/>
              <a:cs typeface="Arial" panose="020B0604020202020204"/>
            </a:endParaRPr>
          </a:p>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 Add deeper pipelining to increase throughput</a:t>
            </a:r>
            <a:endParaRPr sz="1350" b="0">
              <a:solidFill>
                <a:srgbClr val="E6E9EF"/>
              </a:solidFill>
              <a:latin typeface="Arial" panose="020B0604020202020204"/>
              <a:ea typeface="Arial" panose="020B0604020202020204"/>
              <a:cs typeface="Arial" panose="020B0604020202020204"/>
            </a:endParaRPr>
          </a:p>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 Use DSP blocks when supported by the target FPGA</a:t>
            </a:r>
            <a:endParaRPr sz="1350" b="0">
              <a:solidFill>
                <a:srgbClr val="E6E9EF"/>
              </a:solidFill>
              <a:latin typeface="Arial" panose="020B0604020202020204"/>
              <a:ea typeface="Arial" panose="020B0604020202020204"/>
              <a:cs typeface="Arial" panose="020B0604020202020204"/>
            </a:endParaRPr>
          </a:p>
          <a:p>
            <a:pPr algn="l">
              <a:lnSpc>
                <a:spcPct val="100000"/>
              </a:lnSpc>
              <a:buNone/>
              <a:defRPr sz="1350" b="0">
                <a:solidFill>
                  <a:srgbClr val="E6E9EF"/>
                </a:solidFill>
                <a:latin typeface="Arial" panose="020B0604020202020204"/>
                <a:ea typeface="Arial" panose="020B0604020202020204"/>
                <a:cs typeface="Arial" panose="020B0604020202020204"/>
              </a:defRPr>
            </a:pPr>
            <a:r>
              <a:rPr sz="1350" b="0">
                <a:solidFill>
                  <a:srgbClr val="E6E9EF"/>
                </a:solidFill>
                <a:latin typeface="Arial" panose="020B0604020202020204"/>
                <a:ea typeface="Arial" panose="020B0604020202020204"/>
                <a:cs typeface="Arial" panose="020B0604020202020204"/>
              </a:rPr>
              <a:t>• Add UART/AXI input from a host computer</a:t>
            </a:r>
            <a:endParaRPr sz="1350" b="0">
              <a:solidFill>
                <a:srgbClr val="E6E9EF"/>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3381375" y="5905500"/>
            <a:ext cx="5429250" cy="361950"/>
          </a:xfrm>
          <a:prstGeom prst="rect">
            <a:avLst/>
          </a:prstGeom>
          <a:noFill/>
          <a:ln w="0">
            <a:noFill/>
            <a:prstDash val="solid"/>
          </a:ln>
        </p:spPr>
        <p:txBody>
          <a:bodyPr wrap="square" lIns="38100" tIns="19050" rIns="38100" bIns="19050" anchor="ctr">
            <a:normAutofit/>
          </a:bodyPr>
          <a:lstStyle/>
          <a:p>
            <a:pPr algn="ctr">
              <a:lnSpc>
                <a:spcPct val="100000"/>
              </a:lnSpc>
              <a:buNone/>
              <a:defRPr sz="1875" b="1">
                <a:solidFill>
                  <a:srgbClr val="F8FAFC"/>
                </a:solidFill>
                <a:latin typeface="Arial" panose="020B0604020202020204"/>
                <a:ea typeface="Arial" panose="020B0604020202020204"/>
                <a:cs typeface="Arial" panose="020B0604020202020204"/>
              </a:defRPr>
            </a:pPr>
            <a:r>
              <a:rPr sz="1875" b="1">
                <a:solidFill>
                  <a:srgbClr val="F8FAFC"/>
                </a:solidFill>
                <a:latin typeface="Arial" panose="020B0604020202020204"/>
                <a:ea typeface="Arial" panose="020B0604020202020204"/>
                <a:cs typeface="Arial" panose="020B0604020202020204"/>
              </a:rPr>
              <a:t>Thank you for listening.</a:t>
            </a:r>
            <a:endParaRPr sz="1875" b="1">
              <a:solidFill>
                <a:srgbClr val="F8FAFC"/>
              </a:solidFill>
              <a:latin typeface="Arial" panose="020B0604020202020204"/>
              <a:ea typeface="Arial" panose="020B0604020202020204"/>
              <a:cs typeface="Arial" panose="020B0604020202020204"/>
            </a:endParaRPr>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222"/>
        </a:solidFill>
        <a:effectLst/>
      </p:bgPr>
    </p:bg>
    <p:spTree>
      <p:nvGrpSpPr>
        <p:cNvPr id="1" name=""/>
        <p:cNvGrpSpPr/>
        <p:nvPr/>
      </p:nvGrpSpPr>
      <p:grpSpPr>
        <a:xfrm>
          <a:off x="0" y="0"/>
          <a:ext cx="0" cy="0"/>
          <a:chOff x="0" y="0"/>
          <a:chExt cx="0" cy="0"/>
        </a:xfrm>
      </p:grpSpPr>
      <p:sp>
        <p:nvSpPr>
          <p:cNvPr id="2" name="Rectangle 1"/>
          <p:cNvSpPr>
            <a:spLocks noGrp="1"/>
          </p:cNvSpPr>
          <p:nvPr/>
        </p:nvSpPr>
        <p:spPr>
          <a:xfrm>
            <a:off x="0" y="0"/>
            <a:ext cx="12192000" cy="152400"/>
          </a:xfrm>
          <a:prstGeom prst="rect">
            <a:avLst/>
          </a:prstGeom>
          <a:solidFill>
            <a:srgbClr val="25C4DD"/>
          </a:solidFill>
          <a:ln w="0">
            <a:noFill/>
            <a:prstDash val="solid"/>
          </a:ln>
        </p:spPr>
      </p:sp>
      <p:sp>
        <p:nvSpPr>
          <p:cNvPr id="3" name="Rectangle 2"/>
          <p:cNvSpPr>
            <a:spLocks noGrp="1"/>
          </p:cNvSpPr>
          <p:nvPr/>
        </p:nvSpPr>
        <p:spPr>
          <a:xfrm>
            <a:off x="533400" y="409575"/>
            <a:ext cx="10858500" cy="552450"/>
          </a:xfrm>
          <a:prstGeom prst="rect">
            <a:avLst/>
          </a:prstGeom>
          <a:noFill/>
          <a:ln w="0">
            <a:noFill/>
            <a:prstDash val="solid"/>
          </a:ln>
        </p:spPr>
        <p:txBody>
          <a:bodyPr wrap="square" lIns="38100" tIns="19050" rIns="38100" bIns="19050" anchor="ctr">
            <a:normAutofit/>
          </a:bodyPr>
          <a:lstStyle/>
          <a:p>
            <a:pPr algn="l">
              <a:lnSpc>
                <a:spcPct val="100000"/>
              </a:lnSpc>
              <a:buNone/>
              <a:defRPr sz="2850" b="1">
                <a:solidFill>
                  <a:srgbClr val="F8FAFC"/>
                </a:solidFill>
                <a:latin typeface="Arial" panose="020B0604020202020204"/>
                <a:ea typeface="Arial" panose="020B0604020202020204"/>
                <a:cs typeface="Arial" panose="020B0604020202020204"/>
              </a:defRPr>
            </a:pPr>
            <a:r>
              <a:rPr sz="2850" b="1">
                <a:solidFill>
                  <a:srgbClr val="F8FAFC"/>
                </a:solidFill>
                <a:latin typeface="Arial" panose="020B0604020202020204"/>
                <a:ea typeface="Arial" panose="020B0604020202020204"/>
                <a:cs typeface="Arial" panose="020B0604020202020204"/>
              </a:rPr>
              <a:t>References</a:t>
            </a:r>
            <a:endParaRPr sz="2850" b="1">
              <a:solidFill>
                <a:srgbClr val="F8FAFC"/>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33400" y="6572250"/>
            <a:ext cx="3143250" cy="171450"/>
          </a:xfrm>
          <a:prstGeom prst="rect">
            <a:avLst/>
          </a:prstGeom>
          <a:noFill/>
          <a:ln w="0">
            <a:noFill/>
            <a:prstDash val="solid"/>
          </a:ln>
        </p:spPr>
        <p:txBody>
          <a:bodyPr wrap="square" lIns="38100" tIns="19050" rIns="38100" bIns="19050" anchor="ctr">
            <a:normAutofit/>
          </a:bodyPr>
          <a:lstStyle/>
          <a:p>
            <a:pPr algn="l">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FAP 201 • FPGA Matrix Multiplier</a:t>
            </a:r>
            <a:endParaRPr sz="825" b="0">
              <a:solidFill>
                <a:srgbClr val="9BA7BA"/>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11334750" y="6572250"/>
            <a:ext cx="381000" cy="171450"/>
          </a:xfrm>
          <a:prstGeom prst="rect">
            <a:avLst/>
          </a:prstGeom>
          <a:noFill/>
          <a:ln w="0">
            <a:noFill/>
            <a:prstDash val="solid"/>
          </a:ln>
        </p:spPr>
        <p:txBody>
          <a:bodyPr wrap="square" lIns="38100" tIns="19050" rIns="38100" bIns="19050" anchor="ctr">
            <a:normAutofit/>
          </a:bodyPr>
          <a:lstStyle/>
          <a:p>
            <a:pPr algn="r">
              <a:lnSpc>
                <a:spcPct val="100000"/>
              </a:lnSpc>
              <a:buNone/>
              <a:defRPr sz="825" b="0">
                <a:solidFill>
                  <a:srgbClr val="9BA7BA"/>
                </a:solidFill>
                <a:latin typeface="Arial" panose="020B0604020202020204"/>
                <a:ea typeface="Arial" panose="020B0604020202020204"/>
                <a:cs typeface="Arial" panose="020B0604020202020204"/>
              </a:defRPr>
            </a:pPr>
            <a:r>
              <a:rPr sz="825" b="0">
                <a:solidFill>
                  <a:srgbClr val="9BA7BA"/>
                </a:solidFill>
                <a:latin typeface="Arial" panose="020B0604020202020204"/>
                <a:ea typeface="Arial" panose="020B0604020202020204"/>
                <a:cs typeface="Arial" panose="020B0604020202020204"/>
              </a:rPr>
              <a:t>15</a:t>
            </a:r>
            <a:endParaRPr sz="825" b="0">
              <a:solidFill>
                <a:srgbClr val="9BA7BA"/>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71500" y="990600"/>
            <a:ext cx="5334000" cy="285750"/>
          </a:xfrm>
          <a:prstGeom prst="rect">
            <a:avLst/>
          </a:prstGeom>
          <a:noFill/>
          <a:ln w="0">
            <a:noFill/>
            <a:prstDash val="solid"/>
          </a:ln>
        </p:spPr>
        <p:txBody>
          <a:bodyPr wrap="square" lIns="38100" tIns="19050" rIns="38100" bIns="19050" anchor="ctr">
            <a:normAutofit/>
          </a:bodyPr>
          <a:lstStyle/>
          <a:p>
            <a:pPr algn="l">
              <a:lnSpc>
                <a:spcPct val="100000"/>
              </a:lnSpc>
              <a:buNone/>
              <a:defRPr sz="1350" b="0">
                <a:solidFill>
                  <a:srgbClr val="9BA7BA"/>
                </a:solidFill>
                <a:latin typeface="Arial" panose="020B0604020202020204"/>
                <a:ea typeface="Arial" panose="020B0604020202020204"/>
                <a:cs typeface="Arial" panose="020B0604020202020204"/>
              </a:defRPr>
            </a:pPr>
            <a:r>
              <a:rPr sz="1350" b="0">
                <a:solidFill>
                  <a:srgbClr val="9BA7BA"/>
                </a:solidFill>
                <a:latin typeface="Arial" panose="020B0604020202020204"/>
                <a:ea typeface="Arial" panose="020B0604020202020204"/>
                <a:cs typeface="Arial" panose="020B0604020202020204"/>
              </a:rPr>
              <a:t>Sources used by the project team</a:t>
            </a:r>
            <a:endParaRPr sz="1350" b="0">
              <a:solidFill>
                <a:srgbClr val="9BA7BA"/>
              </a:solidFill>
              <a:latin typeface="Arial" panose="020B0604020202020204"/>
              <a:ea typeface="Arial" panose="020B0604020202020204"/>
              <a:cs typeface="Arial" panose="020B0604020202020204"/>
            </a:endParaRPr>
          </a:p>
        </p:txBody>
      </p:sp>
      <p:sp>
        <p:nvSpPr>
          <p:cNvPr id="7" name="Rounded Rectangle 6"/>
          <p:cNvSpPr>
            <a:spLocks noGrp="1"/>
          </p:cNvSpPr>
          <p:nvPr/>
        </p:nvSpPr>
        <p:spPr>
          <a:xfrm>
            <a:off x="781050" y="1524000"/>
            <a:ext cx="323850" cy="323850"/>
          </a:xfrm>
          <a:prstGeom prst="roundRect">
            <a:avLst>
              <a:gd name="adj" fmla="val 5882"/>
            </a:avLst>
          </a:prstGeom>
          <a:solidFill>
            <a:srgbClr val="111C31"/>
          </a:solidFill>
          <a:ln w="19050">
            <a:solidFill>
              <a:srgbClr val="25C4DD"/>
            </a:solidFill>
            <a:prstDash val="solid"/>
          </a:ln>
        </p:spPr>
      </p:sp>
      <p:sp>
        <p:nvSpPr>
          <p:cNvPr id="8" name="Rectangle 7"/>
          <p:cNvSpPr>
            <a:spLocks noGrp="1"/>
          </p:cNvSpPr>
          <p:nvPr/>
        </p:nvSpPr>
        <p:spPr>
          <a:xfrm>
            <a:off x="781050" y="152400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1</a:t>
            </a:r>
            <a:endParaRPr sz="1275" b="1">
              <a:solidFill>
                <a:srgbClr val="25C4DD"/>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1257300" y="1495425"/>
            <a:ext cx="4476750" cy="28575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2×2 Matrix Multiplier</a:t>
            </a:r>
            <a:endParaRPr sz="1500" b="1">
              <a:solidFill>
                <a:srgbClr val="F8FAFC"/>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1257300" y="178117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Describes 2×2 matrix multiplication using registers, multipliers, adders, and multiplexers.</a:t>
            </a:r>
            <a:endParaRPr sz="1200" b="0">
              <a:solidFill>
                <a:srgbClr val="E6E9EF"/>
              </a:solidFill>
              <a:latin typeface="Arial" panose="020B0604020202020204"/>
              <a:ea typeface="Arial" panose="020B0604020202020204"/>
              <a:cs typeface="Arial" panose="020B0604020202020204"/>
            </a:endParaRPr>
          </a:p>
        </p:txBody>
      </p:sp>
      <p:sp>
        <p:nvSpPr>
          <p:cNvPr id="11" name="Rounded Rectangle 10"/>
          <p:cNvSpPr>
            <a:spLocks noGrp="1"/>
          </p:cNvSpPr>
          <p:nvPr/>
        </p:nvSpPr>
        <p:spPr>
          <a:xfrm>
            <a:off x="781050" y="2457450"/>
            <a:ext cx="323850" cy="323850"/>
          </a:xfrm>
          <a:prstGeom prst="roundRect">
            <a:avLst>
              <a:gd name="adj" fmla="val 5882"/>
            </a:avLst>
          </a:prstGeom>
          <a:solidFill>
            <a:srgbClr val="111C31"/>
          </a:solidFill>
          <a:ln w="19050">
            <a:solidFill>
              <a:srgbClr val="25C4DD"/>
            </a:solidFill>
            <a:prstDash val="solid"/>
          </a:ln>
        </p:spPr>
      </p:sp>
      <p:sp>
        <p:nvSpPr>
          <p:cNvPr id="12" name="Rectangle 11"/>
          <p:cNvSpPr>
            <a:spLocks noGrp="1"/>
          </p:cNvSpPr>
          <p:nvPr/>
        </p:nvSpPr>
        <p:spPr>
          <a:xfrm>
            <a:off x="781050" y="245745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2</a:t>
            </a:r>
            <a:endParaRPr sz="1275" b="1">
              <a:solidFill>
                <a:srgbClr val="25C4DD"/>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1257300" y="2428875"/>
            <a:ext cx="4476750" cy="28575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Getting Started with FPGAs</a:t>
            </a:r>
            <a:endParaRPr sz="1500" b="1">
              <a:solidFill>
                <a:srgbClr val="F8FAFC"/>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1257300" y="271462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Introduces simulation, testbenches, synthesis, numeric representation, and arithmetic.</a:t>
            </a:r>
            <a:endParaRPr sz="1200" b="0">
              <a:solidFill>
                <a:srgbClr val="E6E9EF"/>
              </a:solidFill>
              <a:latin typeface="Arial" panose="020B0604020202020204"/>
              <a:ea typeface="Arial" panose="020B0604020202020204"/>
              <a:cs typeface="Arial" panose="020B0604020202020204"/>
            </a:endParaRPr>
          </a:p>
        </p:txBody>
      </p:sp>
      <p:sp>
        <p:nvSpPr>
          <p:cNvPr id="15" name="Rounded Rectangle 14"/>
          <p:cNvSpPr>
            <a:spLocks noGrp="1"/>
          </p:cNvSpPr>
          <p:nvPr/>
        </p:nvSpPr>
        <p:spPr>
          <a:xfrm>
            <a:off x="781050" y="3390900"/>
            <a:ext cx="323850" cy="323850"/>
          </a:xfrm>
          <a:prstGeom prst="roundRect">
            <a:avLst>
              <a:gd name="adj" fmla="val 5882"/>
            </a:avLst>
          </a:prstGeom>
          <a:solidFill>
            <a:srgbClr val="111C31"/>
          </a:solidFill>
          <a:ln w="19050">
            <a:solidFill>
              <a:srgbClr val="25C4DD"/>
            </a:solidFill>
            <a:prstDash val="solid"/>
          </a:ln>
        </p:spPr>
      </p:sp>
      <p:sp>
        <p:nvSpPr>
          <p:cNvPr id="16" name="Rectangle 15"/>
          <p:cNvSpPr>
            <a:spLocks noGrp="1"/>
          </p:cNvSpPr>
          <p:nvPr/>
        </p:nvSpPr>
        <p:spPr>
          <a:xfrm>
            <a:off x="781050" y="339090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3</a:t>
            </a:r>
            <a:endParaRPr sz="1275" b="1">
              <a:solidFill>
                <a:srgbClr val="25C4DD"/>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1257300" y="3362325"/>
            <a:ext cx="4476750" cy="285750"/>
          </a:xfrm>
          <a:prstGeom prst="rect">
            <a:avLst/>
          </a:prstGeom>
          <a:noFill/>
          <a:ln w="0">
            <a:noFill/>
            <a:prstDash val="solid"/>
          </a:ln>
        </p:spPr>
        <p:txBody>
          <a:bodyPr wrap="square" lIns="38100" tIns="19050" rIns="38100" bIns="19050" anchor="ctr">
            <a:normAutofit fontScale="69922" lnSpcReduction="20000"/>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Using the ModelSim FPGA Simulator with Verilog Testbenches</a:t>
            </a:r>
            <a:endParaRPr sz="1500" b="1">
              <a:solidFill>
                <a:srgbClr val="F8FAFC"/>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1257300" y="364807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Explains the DUT/testbench simulation workflow in ModelSim.</a:t>
            </a:r>
            <a:endParaRPr sz="1200" b="0">
              <a:solidFill>
                <a:srgbClr val="E6E9EF"/>
              </a:solidFill>
              <a:latin typeface="Arial" panose="020B0604020202020204"/>
              <a:ea typeface="Arial" panose="020B0604020202020204"/>
              <a:cs typeface="Arial" panose="020B0604020202020204"/>
            </a:endParaRPr>
          </a:p>
        </p:txBody>
      </p:sp>
      <p:sp>
        <p:nvSpPr>
          <p:cNvPr id="19" name="Rounded Rectangle 18"/>
          <p:cNvSpPr>
            <a:spLocks noGrp="1"/>
          </p:cNvSpPr>
          <p:nvPr/>
        </p:nvSpPr>
        <p:spPr>
          <a:xfrm>
            <a:off x="781050" y="4324350"/>
            <a:ext cx="323850" cy="323850"/>
          </a:xfrm>
          <a:prstGeom prst="roundRect">
            <a:avLst>
              <a:gd name="adj" fmla="val 5882"/>
            </a:avLst>
          </a:prstGeom>
          <a:solidFill>
            <a:srgbClr val="111C31"/>
          </a:solidFill>
          <a:ln w="19050">
            <a:solidFill>
              <a:srgbClr val="25C4DD"/>
            </a:solidFill>
            <a:prstDash val="solid"/>
          </a:ln>
        </p:spPr>
      </p:sp>
      <p:sp>
        <p:nvSpPr>
          <p:cNvPr id="20" name="Rectangle 19"/>
          <p:cNvSpPr>
            <a:spLocks noGrp="1"/>
          </p:cNvSpPr>
          <p:nvPr/>
        </p:nvSpPr>
        <p:spPr>
          <a:xfrm>
            <a:off x="781050" y="432435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4</a:t>
            </a:r>
            <a:endParaRPr sz="1275" b="1">
              <a:solidFill>
                <a:srgbClr val="25C4DD"/>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1257300" y="4295775"/>
            <a:ext cx="4476750" cy="285750"/>
          </a:xfrm>
          <a:prstGeom prst="rect">
            <a:avLst/>
          </a:prstGeom>
          <a:noFill/>
          <a:ln w="0">
            <a:noFill/>
            <a:prstDash val="solid"/>
          </a:ln>
        </p:spPr>
        <p:txBody>
          <a:bodyPr wrap="square" lIns="38100" tIns="19050" rIns="38100" bIns="19050" anchor="ctr">
            <a:normAutofit fontScale="93437"/>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Research and Design of a Matrix Multiplier on FPGA</a:t>
            </a:r>
            <a:endParaRPr sz="1500" b="1">
              <a:solidFill>
                <a:srgbClr val="F8FAFC"/>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1257300" y="458152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Provides context on FPGA multiplier architecture, resource use, and performance optimization.</a:t>
            </a:r>
            <a:endParaRPr sz="1200" b="0">
              <a:solidFill>
                <a:srgbClr val="E6E9EF"/>
              </a:solidFill>
              <a:latin typeface="Arial" panose="020B0604020202020204"/>
              <a:ea typeface="Arial" panose="020B0604020202020204"/>
              <a:cs typeface="Arial" panose="020B0604020202020204"/>
            </a:endParaRPr>
          </a:p>
        </p:txBody>
      </p:sp>
      <p:sp>
        <p:nvSpPr>
          <p:cNvPr id="23" name="Rounded Rectangle 22"/>
          <p:cNvSpPr>
            <a:spLocks noGrp="1"/>
          </p:cNvSpPr>
          <p:nvPr/>
        </p:nvSpPr>
        <p:spPr>
          <a:xfrm>
            <a:off x="781050" y="5257800"/>
            <a:ext cx="323850" cy="323850"/>
          </a:xfrm>
          <a:prstGeom prst="roundRect">
            <a:avLst>
              <a:gd name="adj" fmla="val 5882"/>
            </a:avLst>
          </a:prstGeom>
          <a:solidFill>
            <a:srgbClr val="111C31"/>
          </a:solidFill>
          <a:ln w="19050">
            <a:solidFill>
              <a:srgbClr val="25C4DD"/>
            </a:solidFill>
            <a:prstDash val="solid"/>
          </a:ln>
        </p:spPr>
      </p:sp>
      <p:sp>
        <p:nvSpPr>
          <p:cNvPr id="24" name="Rectangle 23"/>
          <p:cNvSpPr>
            <a:spLocks noGrp="1"/>
          </p:cNvSpPr>
          <p:nvPr/>
        </p:nvSpPr>
        <p:spPr>
          <a:xfrm>
            <a:off x="781050" y="5257800"/>
            <a:ext cx="323850" cy="323850"/>
          </a:xfrm>
          <a:prstGeom prst="rect">
            <a:avLst/>
          </a:prstGeom>
          <a:noFill/>
          <a:ln w="0">
            <a:noFill/>
            <a:prstDash val="solid"/>
          </a:ln>
        </p:spPr>
        <p:txBody>
          <a:bodyPr wrap="square" lIns="38100" tIns="19050" rIns="38100" bIns="19050" anchor="ctr">
            <a:normAutofit/>
          </a:bodyPr>
          <a:lstStyle/>
          <a:p>
            <a:pPr algn="ctr">
              <a:lnSpc>
                <a:spcPct val="100000"/>
              </a:lnSpc>
              <a:buNone/>
              <a:defRPr sz="1275" b="1">
                <a:solidFill>
                  <a:srgbClr val="25C4DD"/>
                </a:solidFill>
                <a:latin typeface="Arial" panose="020B0604020202020204"/>
                <a:ea typeface="Arial" panose="020B0604020202020204"/>
                <a:cs typeface="Arial" panose="020B0604020202020204"/>
              </a:defRPr>
            </a:pPr>
            <a:r>
              <a:rPr sz="1275" b="1">
                <a:solidFill>
                  <a:srgbClr val="25C4DD"/>
                </a:solidFill>
                <a:latin typeface="Arial" panose="020B0604020202020204"/>
                <a:ea typeface="Arial" panose="020B0604020202020204"/>
                <a:cs typeface="Arial" panose="020B0604020202020204"/>
              </a:rPr>
              <a:t>5</a:t>
            </a:r>
            <a:endParaRPr sz="1275" b="1">
              <a:solidFill>
                <a:srgbClr val="25C4DD"/>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1257300" y="5229225"/>
            <a:ext cx="4476750" cy="285750"/>
          </a:xfrm>
          <a:prstGeom prst="rect">
            <a:avLst/>
          </a:prstGeom>
          <a:noFill/>
          <a:ln w="0">
            <a:noFill/>
            <a:prstDash val="solid"/>
          </a:ln>
        </p:spPr>
        <p:txBody>
          <a:bodyPr wrap="square" lIns="38100" tIns="19050" rIns="38100" bIns="19050" anchor="ctr">
            <a:normAutofit/>
          </a:bodyPr>
          <a:lstStyle/>
          <a:p>
            <a:pPr algn="l">
              <a:lnSpc>
                <a:spcPct val="100000"/>
              </a:lnSpc>
              <a:buNone/>
              <a:defRPr sz="1500" b="1">
                <a:solidFill>
                  <a:srgbClr val="F8FAFC"/>
                </a:solidFill>
                <a:latin typeface="Arial" panose="020B0604020202020204"/>
                <a:ea typeface="Arial" panose="020B0604020202020204"/>
                <a:cs typeface="Arial" panose="020B0604020202020204"/>
              </a:defRPr>
            </a:pPr>
            <a:r>
              <a:rPr sz="1500" b="1">
                <a:solidFill>
                  <a:srgbClr val="F8FAFC"/>
                </a:solidFill>
                <a:latin typeface="Arial" panose="020B0604020202020204"/>
                <a:ea typeface="Arial" panose="020B0604020202020204"/>
                <a:cs typeface="Arial" panose="020B0604020202020204"/>
              </a:rPr>
              <a:t>Project design notes</a:t>
            </a:r>
            <a:endParaRPr sz="1500" b="1">
              <a:solidFill>
                <a:srgbClr val="F8FAFC"/>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1257300" y="5514975"/>
            <a:ext cx="9429750" cy="400050"/>
          </a:xfrm>
          <a:prstGeom prst="rect">
            <a:avLst/>
          </a:prstGeom>
          <a:noFill/>
          <a:ln w="0">
            <a:noFill/>
            <a:prstDash val="solid"/>
          </a:ln>
        </p:spPr>
        <p:txBody>
          <a:bodyPr wrap="square" lIns="38100" tIns="19050" rIns="38100" bIns="19050" anchor="t">
            <a:normAutofit/>
          </a:bodyPr>
          <a:lstStyle/>
          <a:p>
            <a:pPr algn="l">
              <a:lnSpc>
                <a:spcPct val="100000"/>
              </a:lnSpc>
              <a:buNone/>
              <a:defRPr sz="1200" b="0">
                <a:solidFill>
                  <a:srgbClr val="E6E9EF"/>
                </a:solidFill>
                <a:latin typeface="Arial" panose="020B0604020202020204"/>
                <a:ea typeface="Arial" panose="020B0604020202020204"/>
                <a:cs typeface="Arial" panose="020B0604020202020204"/>
              </a:defRPr>
            </a:pPr>
            <a:r>
              <a:rPr sz="1200" b="0">
                <a:solidFill>
                  <a:srgbClr val="E6E9EF"/>
                </a:solidFill>
                <a:latin typeface="Arial" panose="020B0604020202020204"/>
                <a:ea typeface="Arial" panose="020B0604020202020204"/>
                <a:cs typeface="Arial" panose="020B0604020202020204"/>
              </a:rPr>
              <a:t>Signed 8-bit inputs, 17-bit outputs, parallel/sequential architectures, and the Python + Verilog + ModelSim workflow.</a:t>
            </a:r>
            <a:endParaRPr sz="1200" b="0">
              <a:solidFill>
                <a:srgbClr val="E6E9EF"/>
              </a:solidFill>
              <a:latin typeface="Arial" panose="020B0604020202020204"/>
              <a:ea typeface="Arial" panose="020B0604020202020204"/>
              <a:cs typeface="Arial" panose="020B0604020202020204"/>
            </a:endParaRPr>
          </a:p>
        </p:txBody>
      </p:sp>
      <p:pic>
        <p:nvPicPr>
          <p:cNvPr id="34" name="Picture 33"/>
          <p:cNvPicPr>
            <a:picLocks noChangeAspect="1"/>
          </p:cNvPicPr>
          <p:nvPr/>
        </p:nvPicPr>
        <p:blipFill>
          <a:blip r:embed="rId1"/>
          <a:stretch>
            <a:fillRect/>
          </a:stretch>
        </p:blipFill>
        <p:spPr>
          <a:xfrm>
            <a:off x="9996170" y="409575"/>
            <a:ext cx="1939290" cy="756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7061</Words>
  <Application>WPS Presentation</Application>
  <PresentationFormat>Widescreen</PresentationFormat>
  <Paragraphs>515</Paragraphs>
  <Slides>14</Slides>
  <Notes>14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14</vt:i4>
      </vt:variant>
    </vt:vector>
  </HeadingPairs>
  <TitlesOfParts>
    <vt:vector size="33" baseType="lpstr">
      <vt:lpstr>Arial</vt:lpstr>
      <vt:lpstr>SimSun</vt:lpstr>
      <vt:lpstr>Wingdings</vt:lpstr>
      <vt:lpstr>Consolas</vt:lpstr>
      <vt:lpstr>Consolas</vt:lpstr>
      <vt:lpstr>Consolas</vt:lpstr>
      <vt:lpstr>Aptos Display</vt:lpstr>
      <vt:lpstr>Segoe UI Variable Display</vt:lpstr>
      <vt:lpstr>Aptos Display</vt:lpstr>
      <vt:lpstr>Aptos Display</vt:lpstr>
      <vt:lpstr>Cambria Math</vt:lpstr>
      <vt:lpstr>Arial</vt:lpstr>
      <vt:lpstr>Courier New</vt:lpstr>
      <vt:lpstr>Aptos</vt:lpstr>
      <vt:lpstr>Segoe UI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FAP 201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Nhân Ma Trận 2x2 Systolic Array</dc:title>
  <dc:creator>ChatGPT</dc:creator>
  <dc:subject>Nhân Ma Trận 2x2 Systolic Array trên FPGA</dc:subject>
  <cp:lastModifiedBy>Asus</cp:lastModifiedBy>
  <cp:revision>6</cp:revision>
  <dcterms:created xsi:type="dcterms:W3CDTF">2026-07-19T10:39:00Z</dcterms:created>
  <dcterms:modified xsi:type="dcterms:W3CDTF">2026-07-20T06:03:03Z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3D6F9A42596B4C07ABF091FA14049F16_13</vt:lpwstr>
  </property>
</Properties>
</file>